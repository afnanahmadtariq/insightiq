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b8274fbb9364e6f" /><Relationship Type="http://schemas.openxmlformats.org/officeDocument/2006/relationships/extended-properties" Target="/docProps/app.xml" Id="R3f7e6881e0f64dd2" /><Relationship Type="http://schemas.openxmlformats.org/officeDocument/2006/relationships/officeDocument" Target="/ppt/presentation.xml" Id="R01cbfba4a0cc45da" /></Relationships>
</file>

<file path=ppt/presentation.xml><?xml version="1.0" encoding="utf-8"?>
<p:presentation xmlns:p="http://schemas.openxmlformats.org/presentationml/2006/main">
  <p:sldMasterIdLst>
    <p:sldMasterId xmlns:r="http://schemas.openxmlformats.org/officeDocument/2006/relationships" id="2147483648" r:id="Rbe6b0b364abd4bc1"/>
  </p:sldMasterIdLst>
  <p:notesMasterIdLst>
    <p:notesMasterId xmlns:r="http://schemas.openxmlformats.org/officeDocument/2006/relationships" r:id="R73963c298d974df0"/>
  </p:notesMasterIdLst>
  <p:sldIdLst>
    <p:sldId xmlns:r="http://schemas.openxmlformats.org/officeDocument/2006/relationships" id="256" r:id="R7bf1497d23f44546"/>
    <p:sldId xmlns:r="http://schemas.openxmlformats.org/officeDocument/2006/relationships" id="257" r:id="R6c213a98553945b2"/>
    <p:sldId xmlns:r="http://schemas.openxmlformats.org/officeDocument/2006/relationships" id="258" r:id="R95c3401141ed44a7"/>
    <p:sldId xmlns:r="http://schemas.openxmlformats.org/officeDocument/2006/relationships" id="259" r:id="R11be9ac6a2314f60"/>
    <p:sldId xmlns:r="http://schemas.openxmlformats.org/officeDocument/2006/relationships" id="260" r:id="R903a3d47657c44be"/>
    <p:sldId xmlns:r="http://schemas.openxmlformats.org/officeDocument/2006/relationships" id="261" r:id="R54aa87ecb39f457a"/>
    <p:sldId xmlns:r="http://schemas.openxmlformats.org/officeDocument/2006/relationships" id="262" r:id="Rd33d0066e8694144"/>
    <p:sldId xmlns:r="http://schemas.openxmlformats.org/officeDocument/2006/relationships" id="263" r:id="R11e0465c64274196"/>
    <p:sldId xmlns:r="http://schemas.openxmlformats.org/officeDocument/2006/relationships" id="264" r:id="R97ff450e793b4df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19833232464f9c" /><Relationship Type="http://schemas.openxmlformats.org/officeDocument/2006/relationships/slideMaster" Target="/ppt/slideMasters/slideMaster1.xml" Id="Rbe6b0b364abd4bc1" /><Relationship Type="http://schemas.openxmlformats.org/officeDocument/2006/relationships/notesMaster" Target="/ppt/notesMasters/notesMaster1.xml" Id="R73963c298d974df0" /><Relationship Type="http://schemas.openxmlformats.org/officeDocument/2006/relationships/presProps" Target="/ppt/presProps.xml" Id="R0bc2e3ed54ec4d01" /><Relationship Type="http://schemas.openxmlformats.org/officeDocument/2006/relationships/tableStyles" Target="/ppt/tableStyles.xml" Id="Rd517dde2d77f4fcc" /><Relationship Type="http://schemas.openxmlformats.org/officeDocument/2006/relationships/slide" Target="/ppt/slides/slide1.xml" Id="R7bf1497d23f44546" /><Relationship Type="http://schemas.openxmlformats.org/officeDocument/2006/relationships/slide" Target="/ppt/slides/slide2.xml" Id="R6c213a98553945b2" /><Relationship Type="http://schemas.openxmlformats.org/officeDocument/2006/relationships/slide" Target="/ppt/slides/slide3.xml" Id="R95c3401141ed44a7" /><Relationship Type="http://schemas.openxmlformats.org/officeDocument/2006/relationships/slide" Target="/ppt/slides/slide4.xml" Id="R11be9ac6a2314f60" /><Relationship Type="http://schemas.openxmlformats.org/officeDocument/2006/relationships/slide" Target="/ppt/slides/slide5.xml" Id="R903a3d47657c44be" /><Relationship Type="http://schemas.openxmlformats.org/officeDocument/2006/relationships/slide" Target="/ppt/slides/slide6.xml" Id="R54aa87ecb39f457a" /><Relationship Type="http://schemas.openxmlformats.org/officeDocument/2006/relationships/slide" Target="/ppt/slides/slide7.xml" Id="Rd33d0066e8694144" /><Relationship Type="http://schemas.openxmlformats.org/officeDocument/2006/relationships/slide" Target="/ppt/slides/slide8.xml" Id="R11e0465c64274196" /><Relationship Type="http://schemas.openxmlformats.org/officeDocument/2006/relationships/slide" Target="/ppt/slides/slide9.xml" Id="R97ff450e793b4d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16f9eeac87d4de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ddb279170044ca6" /><Relationship Type="http://schemas.openxmlformats.org/officeDocument/2006/relationships/notesMaster" Target="/ppt/notesMasters/notesMaster1.xml" Id="R2d7cbbd858ac40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acfa093b144a71" /><Relationship Type="http://schemas.openxmlformats.org/officeDocument/2006/relationships/notesMaster" Target="/ppt/notesMasters/notesMaster1.xml" Id="Rab047ca82d2d48d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6c067850bba40a8" /><Relationship Type="http://schemas.openxmlformats.org/officeDocument/2006/relationships/notesMaster" Target="/ppt/notesMasters/notesMaster1.xml" Id="Ref51fdcb78e34e1f" /></Relationships>
</file>

<file path=ppt/notesSlides/_rels/notesSlide4.xml.rels>&#65279;<?xml version="1.0" encoding="utf-8"?><Relationships xmlns="http://schemas.openxmlformats.org/package/2006/relationships"><Relationship Type="http://schemas.openxmlformats.org/officeDocument/2006/relationships/slide" Target="/ppt/slides/slide4.xml" Id="Rf5c23bfe17404e96" /><Relationship Type="http://schemas.openxmlformats.org/officeDocument/2006/relationships/notesMaster" Target="/ppt/notesMasters/notesMaster1.xml" Id="Ra3f7ae6844624fdd"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dc562f60d448fd" /><Relationship Type="http://schemas.openxmlformats.org/officeDocument/2006/relationships/notesMaster" Target="/ppt/notesMasters/notesMaster1.xml" Id="R66b2bbe5d71343f3"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c9af0dad1d489b" /><Relationship Type="http://schemas.openxmlformats.org/officeDocument/2006/relationships/notesMaster" Target="/ppt/notesMasters/notesMaster1.xml" Id="Rd77a8f975870486e" /></Relationships>
</file>

<file path=ppt/notesSlides/_rels/notesSlide7.xml.rels>&#65279;<?xml version="1.0" encoding="utf-8"?><Relationships xmlns="http://schemas.openxmlformats.org/package/2006/relationships"><Relationship Type="http://schemas.openxmlformats.org/officeDocument/2006/relationships/slide" Target="/ppt/slides/slide7.xml" Id="R904fee04bcfc4743" /><Relationship Type="http://schemas.openxmlformats.org/officeDocument/2006/relationships/notesMaster" Target="/ppt/notesMasters/notesMaster1.xml" Id="R22ce6fb3888f4a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9ea2c4d1cf014a6d" /><Relationship Type="http://schemas.openxmlformats.org/officeDocument/2006/relationships/notesMaster" Target="/ppt/notesMasters/notesMaster1.xml" Id="R39805aa3d4e5496b" /></Relationships>
</file>

<file path=ppt/notesSlides/_rels/notesSlide9.xml.rels>&#65279;<?xml version="1.0" encoding="utf-8"?><Relationships xmlns="http://schemas.openxmlformats.org/package/2006/relationships"><Relationship Type="http://schemas.openxmlformats.org/officeDocument/2006/relationships/slide" Target="/ppt/slides/slide9.xml" Id="Rc89d16fc03c84c01" /><Relationship Type="http://schemas.openxmlformats.org/officeDocument/2006/relationships/notesMaster" Target="/ppt/notesMasters/notesMaster1.xml" Id="R9b983e17d0b2471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InsightIQ, Alibaba Bano Qabil AI Hackathon 2026. Introduce the product as an AI sales research assistant for B2B sales teams, agencies, and founders. Sources: README.md; InsightIQ-docs/docs/submission/hackathon-submission.md. Logo: apps/web/public/insightiq-logo.svg.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InsightIQ-docs/docs/01-project-intro.md and docs/submission/hackathon-submission.md. These describe the target customer and problem. No quantitative time-saving or traction claims are made. Sellers need to connect scattered public activity to a specific offer.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README.md; apps/worker/src/insightiq_worker/graph_brief.py; InsightIQ-docs/docs/engineering/current-status.md. The API stores an immutable research snapshot. Tavily finds sources with Wikipedia fallback. Qwen through DashScope extracts evidence. LangGraph synthesizes a goal-aware brief and checks citations before completion. The PostgreSQL queue runs asynchronously.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README.md and docs/assets/architecture.mmd. This editable diagram uses the same nodes and edges as the Mermaid source in the README. The API handles requests and discovery. PostgreSQL persists work and results. The Python worker claims jobs after discovery and uses Qwen through DashScope for evidence and synthesis. Web hosting: Cloudflare Workers through OpenNext. API, database, and worker: Docker Compose on a VPS, with Nginx in front of the 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current README.md; apps/web/components/brief-sections.tsx. Authenticated desktop screenshot: https://insightiq.zerotools.online/dashboard, captured 2026-09-07. The InsightIQ Demo workspace contains one public-source research run for Apple using an illustrative sales onboarding offer. The demo run completed and produced a saved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Authenticated desktop screenshot: https://insightiq.zerotools.online/dashboard/briefs/0a90f98489a445fdae6e8516c, captured 2026-09-07. This is an actual AI-generated demo output for public Apple research and an illustrative sales-training offer. It is not independently verified research about Apple. The user should review source freshness, contradictions, and recommendations before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apps/worker/src/insightiq_worker/graph_brief.py citation_gate checks evidence IDs, source URLs and exact claims for key_signals. Authenticated screenshot: https://insightiq.zerotools.online/dashboard/evidence, captured 2026-09-07. This completed demo run contains 18 public sources. The library separates raw sources from accepted claims. Citations establish traceability, not guaranteed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InsightIQ-docs/docs/engineering/current-status.md; README.md; apps/web/components/conversation-pack.tsx; apps/worker/src/insightiq_worker/graph_brief.py. Built capabilities include shared workspaces, async research, evidence and brief libraries, notifications, refresh comparisons, and exports. Intended benefits are fewer research handoffs and better-supported conversations, not measured business outcomes. Future work: additional collectors, output quality and provider-cost measurement. Live app: https://insightiq.zerotools.online.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Contributors: Afnan Ahmad Tariq and Danyal Rana are identified in the repository commit history. Hassan is included at the user’s request. No individual role assignments are inferred.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dca660e69c4ed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d13976018442e5" /><Relationship Type="http://schemas.openxmlformats.org/officeDocument/2006/relationships/slideLayout" Target="/ppt/slideLayouts/slideLayout1.xml" Id="R0ec4f9f8817b4c1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ec4f9f8817b4c1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5c34452118a4fc4" /><Relationship Type="http://schemas.openxmlformats.org/officeDocument/2006/relationships/image" Target="/ppt/media/image.png" Id="Rb17817a0cd794281" /><Relationship Type="http://schemas.openxmlformats.org/officeDocument/2006/relationships/notesSlide" Target="/ppt/notesSlides/notesSlide1.xml" Id="R4e0ad6b4390c4d4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fc7ea5b0b884a61" /><Relationship Type="http://schemas.openxmlformats.org/officeDocument/2006/relationships/notesSlide" Target="/ppt/notesSlides/notesSlide2.xml" Id="R50bc0a6984c64e8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e8e7c6e6a084e76" /><Relationship Type="http://schemas.openxmlformats.org/officeDocument/2006/relationships/notesSlide" Target="/ppt/notesSlides/notesSlide3.xml" Id="R4e01227002da4a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50ff4f0baf04d72" /><Relationship Type="http://schemas.openxmlformats.org/officeDocument/2006/relationships/notesSlide" Target="/ppt/notesSlides/notesSlide4.xml" Id="Rcd650cd8270b44d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dd3de1f895d4442" /><Relationship Type="http://schemas.openxmlformats.org/officeDocument/2006/relationships/image" Target="/ppt/media/image.jpeg" Id="Re20edc7c13fd485a" /><Relationship Type="http://schemas.openxmlformats.org/officeDocument/2006/relationships/notesSlide" Target="/ppt/notesSlides/notesSlide5.xml" Id="R0d5e89be43a747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b50a21d51d349b1" /><Relationship Type="http://schemas.openxmlformats.org/officeDocument/2006/relationships/image" Target="/ppt/media/image2.jpeg" Id="Rb95538a4c0b245b7" /><Relationship Type="http://schemas.openxmlformats.org/officeDocument/2006/relationships/notesSlide" Target="/ppt/notesSlides/notesSlide6.xml" Id="R32accf3ad3384bf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3e4cdb4c3984209" /><Relationship Type="http://schemas.openxmlformats.org/officeDocument/2006/relationships/image" Target="/ppt/media/image3.jpeg" Id="R4feb6bd251af49d3" /><Relationship Type="http://schemas.openxmlformats.org/officeDocument/2006/relationships/notesSlide" Target="/ppt/notesSlides/notesSlide7.xml" Id="R7f12697fb0d94fb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9403a31d403463b" /><Relationship Type="http://schemas.openxmlformats.org/officeDocument/2006/relationships/notesSlide" Target="/ppt/notesSlides/notesSlide8.xml" Id="Re9d5f14e601e43c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d1d2aa3aeb145e5" /><Relationship Type="http://schemas.openxmlformats.org/officeDocument/2006/relationships/notesSlide" Target="/ppt/notesSlides/notesSlide9.xml" Id="R5c20a449a5b34e29" /></Relationships>
</file>

<file path=ppt/slides/slide1.xml><?xml version="1.0" encoding="utf-8"?>
<p:sld xmlns:p="http://schemas.openxmlformats.org/presentationml/2006/main">
  <p:cSld>
    <p:bg>
      <p:bgPr>
        <a:solidFill xmlns:a="http://schemas.openxmlformats.org/drawingml/2006/main">
          <a:srgbClr val="F2F7FE"/>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b17817a0cd794281"/>
          <a:stretch xmlns:a="http://schemas.openxmlformats.org/drawingml/2006/main"/>
        </p:blipFill>
        <p:spPr>
          <a:xfrm xmlns:a="http://schemas.openxmlformats.org/drawingml/2006/main">
            <a:off x="8439150" y="1685925"/>
            <a:ext cx="2762250" cy="276225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5254014-2FA0-4854-9D8F-E84C89A8B65C}"/>
              </a:ext>
            </a:extLst>
          </p:cNvPr>
          <p:cNvSpPr>
            <a:spLocks xmlns:a="http://schemas.openxmlformats.org/drawingml/2006/main" noGrp="1"/>
          </p:cNvSpPr>
          <p:nvPr/>
        </p:nvSpPr>
        <p:spPr>
          <a:xfrm xmlns:a="http://schemas.openxmlformats.org/drawingml/2006/main">
            <a:off x="685800" y="1685925"/>
            <a:ext cx="714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150" b="1">
                <a:solidFill>
                  <a:srgbClr val="123881"/>
                </a:solidFill>
                <a:latin typeface="Helvetica Neue"/>
                <a:ea typeface="Helvetica Neue"/>
                <a:cs typeface="Helvetica Neue"/>
              </a:defRPr>
            </a:pPr>
            <a:r>
              <a:rPr sz="6150" b="1">
                <a:solidFill>
                  <a:srgbClr val="123881"/>
                </a:solidFill>
                <a:latin typeface="Helvetica Neue"/>
                <a:ea typeface="Helvetica Neue"/>
                <a:cs typeface="Helvetica Neue"/>
              </a:rPr>
              <a:t>InsightIQ</a:t>
            </a:r>
          </a:p>
        </p:txBody>
      </p:sp>
      <p:sp>
        <p:nvSpPr>
          <p:cNvPr id="3" name="">
            <a:extLst xmlns:a="http://schemas.openxmlformats.org/drawingml/2006/main">
              <a:ext uri="{FF2B5EF4-FFF2-40B4-BE49-F238E27FC236}">
                <a16:creationId xmlns:a16="http://schemas.microsoft.com/office/drawing/2014/main" id="{CA8BD34C-36C0-4CB1-B4CB-A4C47A88406C}"/>
              </a:ext>
            </a:extLst>
          </p:cNvPr>
          <p:cNvSpPr>
            <a:spLocks xmlns:a="http://schemas.openxmlformats.org/drawingml/2006/main" noGrp="1"/>
          </p:cNvSpPr>
          <p:nvPr/>
        </p:nvSpPr>
        <p:spPr>
          <a:xfrm xmlns:a="http://schemas.openxmlformats.org/drawingml/2006/main">
            <a:off x="723900" y="2971800"/>
            <a:ext cx="7429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32C50"/>
                </a:solidFill>
                <a:latin typeface="Helvetica Neue"/>
                <a:ea typeface="Helvetica Neue"/>
                <a:cs typeface="Helvetica Neue"/>
              </a:defRPr>
            </a:pPr>
            <a:r>
              <a:rPr sz="3300" b="0">
                <a:solidFill>
                  <a:srgbClr val="132C50"/>
                </a:solidFill>
                <a:latin typeface="Helvetica Neue"/>
                <a:ea typeface="Helvetica Neue"/>
                <a:cs typeface="Helvetica Neue"/>
              </a:rPr>
              <a:t>AI research for your</a:t>
            </a:r>
          </a:p>
          <a:p xmlns:a="http://schemas.openxmlformats.org/drawingml/2006/main">
            <a:pPr>
              <a:defRPr sz="3300" b="0">
                <a:solidFill>
                  <a:srgbClr val="132C50"/>
                </a:solidFill>
                <a:latin typeface="Helvetica Neue"/>
                <a:ea typeface="Helvetica Neue"/>
                <a:cs typeface="Helvetica Neue"/>
              </a:defRPr>
            </a:pPr>
            <a:r>
              <a:rPr sz="3300" b="0">
                <a:solidFill>
                  <a:srgbClr val="132C50"/>
                </a:solidFill>
                <a:latin typeface="Helvetica Neue"/>
                <a:ea typeface="Helvetica Neue"/>
                <a:cs typeface="Helvetica Neue"/>
              </a:rPr>
              <a:t>next sales conversation</a:t>
            </a:r>
          </a:p>
        </p:txBody>
      </p:sp>
      <p:sp>
        <p:nvSpPr>
          <p:cNvPr id="4" name="">
            <a:extLst xmlns:a="http://schemas.openxmlformats.org/drawingml/2006/main">
              <a:ext uri="{FF2B5EF4-FFF2-40B4-BE49-F238E27FC236}">
                <a16:creationId xmlns:a16="http://schemas.microsoft.com/office/drawing/2014/main" id="{9021A22F-CBA5-4AF3-9E64-4D5C106CFC64}"/>
              </a:ext>
            </a:extLst>
          </p:cNvPr>
          <p:cNvSpPr>
            <a:spLocks xmlns:a="http://schemas.openxmlformats.org/drawingml/2006/main" noGrp="1"/>
          </p:cNvSpPr>
          <p:nvPr/>
        </p:nvSpPr>
        <p:spPr>
          <a:xfrm xmlns:a="http://schemas.openxmlformats.org/drawingml/2006/main">
            <a:off x="723900" y="4705350"/>
            <a:ext cx="1028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780"/>
                </a:solidFill>
                <a:latin typeface="Helvetica Neue"/>
                <a:ea typeface="Helvetica Neue"/>
                <a:cs typeface="Helvetica Neue"/>
              </a:defRPr>
            </a:pPr>
            <a:r>
              <a:rPr sz="2100" b="0">
                <a:solidFill>
                  <a:srgbClr val="536780"/>
                </a:solidFill>
                <a:latin typeface="Helvetica Neue"/>
                <a:ea typeface="Helvetica Neue"/>
                <a:cs typeface="Helvetica Neue"/>
              </a:rPr>
              <a:t>Prospect context. Your offer. A brief with sources.</a:t>
            </a:r>
          </a:p>
        </p:txBody>
      </p:sp>
      <p:sp>
        <p:nvSpPr>
          <p:cNvPr id="5" name="">
            <a:extLst xmlns:a="http://schemas.openxmlformats.org/drawingml/2006/main">
              <a:ext uri="{FF2B5EF4-FFF2-40B4-BE49-F238E27FC236}">
                <a16:creationId xmlns:a16="http://schemas.microsoft.com/office/drawing/2014/main" id="{A654E5A4-59AD-4BBB-8E4C-72E5007CF963}"/>
              </a:ext>
            </a:extLst>
          </p:cNvPr>
          <p:cNvSpPr>
            <a:spLocks xmlns:a="http://schemas.openxmlformats.org/drawingml/2006/main" noGrp="1"/>
          </p:cNvSpPr>
          <p:nvPr/>
        </p:nvSpPr>
        <p:spPr>
          <a:xfrm xmlns:a="http://schemas.openxmlformats.org/drawingml/2006/main">
            <a:off x="723900" y="5810250"/>
            <a:ext cx="1019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36780"/>
                </a:solidFill>
                <a:latin typeface="Helvetica Neue"/>
                <a:ea typeface="Helvetica Neue"/>
                <a:cs typeface="Helvetica Neue"/>
              </a:defRPr>
            </a:pPr>
            <a:r>
              <a:rPr sz="1650" b="0">
                <a:solidFill>
                  <a:srgbClr val="536780"/>
                </a:solidFill>
                <a:latin typeface="Helvetica Neue"/>
                <a:ea typeface="Helvetica Neue"/>
                <a:cs typeface="Helvetica Neue"/>
              </a:rPr>
              <a:t>Alibaba Bano Qabil AI Hackathon 2026</a:t>
            </a:r>
          </a:p>
        </p:txBody>
      </p:sp>
    </p:spTree>
    <p:extLst>
      <p:ext uri="{BB962C8B-B14F-4D97-AF65-F5344CB8AC3E}">
        <p14:creationId xmlns:p14="http://schemas.microsoft.com/office/powerpoint/2010/main" val="170172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BE785F-F7D9-469A-86AC-B4A39A4783E3}"/>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23881"/>
                </a:solidFill>
                <a:latin typeface="Helvetica Neue"/>
                <a:ea typeface="Helvetica Neue"/>
                <a:cs typeface="Helvetica Neue"/>
              </a:defRPr>
            </a:pPr>
            <a:r>
              <a:rPr sz="3525" b="1">
                <a:solidFill>
                  <a:srgbClr val="123881"/>
                </a:solidFill>
                <a:latin typeface="Helvetica Neue"/>
                <a:ea typeface="Helvetica Neue"/>
                <a:cs typeface="Helvetica Neue"/>
              </a:rPr>
              <a:t>The idea behind InsightIQ</a:t>
            </a:r>
          </a:p>
        </p:txBody>
      </p:sp>
      <p:sp>
        <p:nvSpPr>
          <p:cNvPr id="2" name="">
            <a:extLst xmlns:a="http://schemas.openxmlformats.org/drawingml/2006/main">
              <a:ext uri="{FF2B5EF4-FFF2-40B4-BE49-F238E27FC236}">
                <a16:creationId xmlns:a16="http://schemas.microsoft.com/office/drawing/2014/main" id="{D973D3EF-FD13-457B-9817-950E4D61D6F0}"/>
              </a:ext>
            </a:extLst>
          </p:cNvPr>
          <p:cNvSpPr>
            <a:spLocks xmlns:a="http://schemas.openxmlformats.org/drawingml/2006/main" noGrp="1"/>
          </p:cNvSpPr>
          <p:nvPr/>
        </p:nvSpPr>
        <p:spPr>
          <a:xfrm xmlns:a="http://schemas.openxmlformats.org/drawingml/2006/main">
            <a:off x="704850" y="1857375"/>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76C9"/>
                </a:solidFill>
                <a:latin typeface="Helvetica Neue"/>
                <a:ea typeface="Helvetica Neue"/>
                <a:cs typeface="Helvetica Neue"/>
              </a:defRPr>
            </a:pPr>
            <a:r>
              <a:rPr sz="2025" b="1">
                <a:solidFill>
                  <a:srgbClr val="1876C9"/>
                </a:solidFill>
                <a:latin typeface="Helvetica Neue"/>
                <a:ea typeface="Helvetica Neue"/>
                <a:cs typeface="Helvetica Neue"/>
              </a:rPr>
              <a:t>For people who sell</a:t>
            </a:r>
          </a:p>
        </p:txBody>
      </p:sp>
      <p:sp>
        <p:nvSpPr>
          <p:cNvPr id="3" name="">
            <a:extLst xmlns:a="http://schemas.openxmlformats.org/drawingml/2006/main">
              <a:ext uri="{FF2B5EF4-FFF2-40B4-BE49-F238E27FC236}">
                <a16:creationId xmlns:a16="http://schemas.microsoft.com/office/drawing/2014/main" id="{369B845F-C2EA-432C-8CDB-636F17860A59}"/>
              </a:ext>
            </a:extLst>
          </p:cNvPr>
          <p:cNvSpPr>
            <a:spLocks xmlns:a="http://schemas.openxmlformats.org/drawingml/2006/main" noGrp="1"/>
          </p:cNvSpPr>
          <p:nvPr/>
        </p:nvSpPr>
        <p:spPr>
          <a:xfrm xmlns:a="http://schemas.openxmlformats.org/drawingml/2006/main">
            <a:off x="704850" y="2476500"/>
            <a:ext cx="46672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32C50"/>
                </a:solidFill>
                <a:latin typeface="Helvetica Neue"/>
                <a:ea typeface="Helvetica Neue"/>
                <a:cs typeface="Helvetica Neue"/>
              </a:defRPr>
            </a:pPr>
            <a:r>
              <a:rPr sz="2325" b="0">
                <a:solidFill>
                  <a:srgbClr val="132C50"/>
                </a:solidFill>
                <a:latin typeface="Helvetica Neue"/>
                <a:ea typeface="Helvetica Neue"/>
                <a:cs typeface="Helvetica Neue"/>
              </a:rPr>
              <a:t>B2B sales teams</a:t>
            </a:r>
          </a:p>
          <a:p xmlns:a="http://schemas.openxmlformats.org/drawingml/2006/main">
            <a:pPr>
              <a:defRPr sz="2325" b="0">
                <a:solidFill>
                  <a:srgbClr val="132C50"/>
                </a:solidFill>
                <a:latin typeface="Helvetica Neue"/>
                <a:ea typeface="Helvetica Neue"/>
                <a:cs typeface="Helvetica Neue"/>
              </a:defRPr>
            </a:pPr>
            <a:r>
              <a:rPr sz="2325" b="0">
                <a:solidFill>
                  <a:srgbClr val="132C50"/>
                </a:solidFill>
                <a:latin typeface="Helvetica Neue"/>
                <a:ea typeface="Helvetica Neue"/>
                <a:cs typeface="Helvetica Neue"/>
              </a:rPr>
              <a:t>Agencies pitching clients</a:t>
            </a:r>
          </a:p>
          <a:p xmlns:a="http://schemas.openxmlformats.org/drawingml/2006/main">
            <a:pPr>
              <a:defRPr sz="2325" b="0">
                <a:solidFill>
                  <a:srgbClr val="132C50"/>
                </a:solidFill>
                <a:latin typeface="Helvetica Neue"/>
                <a:ea typeface="Helvetica Neue"/>
                <a:cs typeface="Helvetica Neue"/>
              </a:defRPr>
            </a:pPr>
            <a:r>
              <a:rPr sz="2325" b="0">
                <a:solidFill>
                  <a:srgbClr val="132C50"/>
                </a:solidFill>
                <a:latin typeface="Helvetica Neue"/>
                <a:ea typeface="Helvetica Neue"/>
                <a:cs typeface="Helvetica Neue"/>
              </a:rPr>
              <a:t>Founders finding customers</a:t>
            </a:r>
          </a:p>
        </p:txBody>
      </p:sp>
      <p:sp>
        <p:nvSpPr>
          <p:cNvPr id="4" name="">
            <a:extLst xmlns:a="http://schemas.openxmlformats.org/drawingml/2006/main">
              <a:ext uri="{FF2B5EF4-FFF2-40B4-BE49-F238E27FC236}">
                <a16:creationId xmlns:a16="http://schemas.microsoft.com/office/drawing/2014/main" id="{44EB39A8-CE83-4A00-8109-DA7708FCD202}"/>
              </a:ext>
            </a:extLst>
          </p:cNvPr>
          <p:cNvSpPr>
            <a:spLocks xmlns:a="http://schemas.openxmlformats.org/drawingml/2006/main" noGrp="1"/>
          </p:cNvSpPr>
          <p:nvPr/>
        </p:nvSpPr>
        <p:spPr>
          <a:xfrm xmlns:a="http://schemas.openxmlformats.org/drawingml/2006/main">
            <a:off x="6105525" y="1857375"/>
            <a:ext cx="5286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76C9"/>
                </a:solidFill>
                <a:latin typeface="Helvetica Neue"/>
                <a:ea typeface="Helvetica Neue"/>
                <a:cs typeface="Helvetica Neue"/>
              </a:defRPr>
            </a:pPr>
            <a:r>
              <a:rPr sz="2025" b="1">
                <a:solidFill>
                  <a:srgbClr val="1876C9"/>
                </a:solidFill>
                <a:latin typeface="Helvetica Neue"/>
                <a:ea typeface="Helvetica Neue"/>
                <a:cs typeface="Helvetica Neue"/>
              </a:rPr>
              <a:t>Before the conversation</a:t>
            </a:r>
          </a:p>
        </p:txBody>
      </p:sp>
      <p:sp>
        <p:nvSpPr>
          <p:cNvPr id="5" name="">
            <a:extLst xmlns:a="http://schemas.openxmlformats.org/drawingml/2006/main">
              <a:ext uri="{FF2B5EF4-FFF2-40B4-BE49-F238E27FC236}">
                <a16:creationId xmlns:a16="http://schemas.microsoft.com/office/drawing/2014/main" id="{E3D22639-4FF4-4136-976F-F7C079A52C86}"/>
              </a:ext>
            </a:extLst>
          </p:cNvPr>
          <p:cNvSpPr>
            <a:spLocks xmlns:a="http://schemas.openxmlformats.org/drawingml/2006/main" noGrp="1"/>
          </p:cNvSpPr>
          <p:nvPr/>
        </p:nvSpPr>
        <p:spPr>
          <a:xfrm xmlns:a="http://schemas.openxmlformats.org/drawingml/2006/main">
            <a:off x="6105525" y="2476500"/>
            <a:ext cx="5381625"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32C50"/>
                </a:solidFill>
                <a:latin typeface="Helvetica Neue"/>
                <a:ea typeface="Helvetica Neue"/>
                <a:cs typeface="Helvetica Neue"/>
              </a:defRPr>
            </a:pPr>
            <a:r>
              <a:rPr sz="2325" b="0">
                <a:solidFill>
                  <a:srgbClr val="132C50"/>
                </a:solidFill>
                <a:latin typeface="Helvetica Neue"/>
                <a:ea typeface="Helvetica Neue"/>
                <a:cs typeface="Helvetica Neue"/>
              </a:rPr>
              <a:t>What changed at this company?</a:t>
            </a:r>
          </a:p>
          <a:p xmlns:a="http://schemas.openxmlformats.org/drawingml/2006/main">
            <a:pPr>
              <a:defRPr sz="2325" b="0">
                <a:solidFill>
                  <a:srgbClr val="132C50"/>
                </a:solidFill>
                <a:latin typeface="Helvetica Neue"/>
                <a:ea typeface="Helvetica Neue"/>
                <a:cs typeface="Helvetica Neue"/>
              </a:defRPr>
            </a:pPr>
            <a:r>
              <a:rPr sz="2325" b="0">
                <a:solidFill>
                  <a:srgbClr val="132C50"/>
                </a:solidFill>
                <a:latin typeface="Helvetica Neue"/>
                <a:ea typeface="Helvetica Neue"/>
                <a:cs typeface="Helvetica Neue"/>
              </a:rPr>
              <a:t>Why does our offer matter now?</a:t>
            </a:r>
          </a:p>
          <a:p xmlns:a="http://schemas.openxmlformats.org/drawingml/2006/main">
            <a:pPr>
              <a:defRPr sz="2325" b="0">
                <a:solidFill>
                  <a:srgbClr val="132C50"/>
                </a:solidFill>
                <a:latin typeface="Helvetica Neue"/>
                <a:ea typeface="Helvetica Neue"/>
                <a:cs typeface="Helvetica Neue"/>
              </a:defRPr>
            </a:pPr>
            <a:r>
              <a:rPr sz="2325" b="0">
                <a:solidFill>
                  <a:srgbClr val="132C50"/>
                </a:solidFill>
                <a:latin typeface="Helvetica Neue"/>
                <a:ea typeface="Helvetica Neue"/>
                <a:cs typeface="Helvetica Neue"/>
              </a:rPr>
              <a:t>Can I verify the claim?</a:t>
            </a:r>
          </a:p>
        </p:txBody>
      </p:sp>
      <p:sp>
        <p:nvSpPr>
          <p:cNvPr id="6" name="">
            <a:extLst xmlns:a="http://schemas.openxmlformats.org/drawingml/2006/main">
              <a:ext uri="{FF2B5EF4-FFF2-40B4-BE49-F238E27FC236}">
                <a16:creationId xmlns:a16="http://schemas.microsoft.com/office/drawing/2014/main" id="{9FB81F96-CECD-4761-BE5B-4D5552A24346}"/>
              </a:ext>
            </a:extLst>
          </p:cNvPr>
          <p:cNvSpPr>
            <a:spLocks xmlns:a="http://schemas.openxmlformats.org/drawingml/2006/main" noGrp="1"/>
          </p:cNvSpPr>
          <p:nvPr/>
        </p:nvSpPr>
        <p:spPr>
          <a:xfrm xmlns:a="http://schemas.openxmlformats.org/drawingml/2006/main">
            <a:off x="704850" y="5172075"/>
            <a:ext cx="10620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23881"/>
                </a:solidFill>
                <a:latin typeface="Helvetica Neue"/>
                <a:ea typeface="Helvetica Neue"/>
                <a:cs typeface="Helvetica Neue"/>
              </a:defRPr>
            </a:pPr>
            <a:r>
              <a:rPr sz="2325" b="1">
                <a:solidFill>
                  <a:srgbClr val="123881"/>
                </a:solidFill>
                <a:latin typeface="Helvetica Neue"/>
                <a:ea typeface="Helvetica Neue"/>
                <a:cs typeface="Helvetica Neue"/>
              </a:rPr>
              <a:t>Your prospect’s context makes your offer more relevant.</a:t>
            </a:r>
          </a:p>
        </p:txBody>
      </p:sp>
      <p:sp>
        <p:nvSpPr>
          <p:cNvPr id="7" name="">
            <a:extLst xmlns:a="http://schemas.openxmlformats.org/drawingml/2006/main">
              <a:ext uri="{FF2B5EF4-FFF2-40B4-BE49-F238E27FC236}">
                <a16:creationId xmlns:a16="http://schemas.microsoft.com/office/drawing/2014/main" id="{A811FBB5-E3B2-4F66-83AF-61F8BEEE27AE}"/>
              </a:ext>
            </a:extLst>
          </p:cNvPr>
          <p:cNvSpPr>
            <a:spLocks xmlns:a="http://schemas.openxmlformats.org/drawingml/2006/main" noGrp="1"/>
          </p:cNvSpPr>
          <p:nvPr/>
        </p:nvSpPr>
        <p:spPr>
          <a:xfrm xmlns:a="http://schemas.openxmlformats.org/drawingml/2006/main">
            <a:off x="704850" y="5848350"/>
            <a:ext cx="10620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32C50"/>
                </a:solidFill>
                <a:latin typeface="Helvetica Neue"/>
                <a:ea typeface="Helvetica Neue"/>
                <a:cs typeface="Helvetica Neue"/>
              </a:defRPr>
            </a:pPr>
            <a:r>
              <a:rPr sz="1950" b="0">
                <a:solidFill>
                  <a:srgbClr val="132C50"/>
                </a:solidFill>
                <a:latin typeface="Helvetica Neue"/>
                <a:ea typeface="Helvetica Neue"/>
                <a:cs typeface="Helvetica Neue"/>
              </a:rPr>
              <a:t>InsightIQ connects public signals to your offer and suggests what to discuss.</a:t>
            </a:r>
          </a:p>
        </p:txBody>
      </p:sp>
    </p:spTree>
    <p:extLst>
      <p:ext uri="{BB962C8B-B14F-4D97-AF65-F5344CB8AC3E}">
        <p14:creationId xmlns:p14="http://schemas.microsoft.com/office/powerpoint/2010/main" val="48434943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E54520E-CD1A-4DAD-A4A4-133A9097BCA8}"/>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23881"/>
                </a:solidFill>
                <a:latin typeface="Helvetica Neue"/>
                <a:ea typeface="Helvetica Neue"/>
                <a:cs typeface="Helvetica Neue"/>
              </a:defRPr>
            </a:pPr>
            <a:r>
              <a:rPr sz="3525" b="1">
                <a:solidFill>
                  <a:srgbClr val="123881"/>
                </a:solidFill>
                <a:latin typeface="Helvetica Neue"/>
                <a:ea typeface="Helvetica Neue"/>
                <a:cs typeface="Helvetica Neue"/>
              </a:rPr>
              <a:t>The research workflow</a:t>
            </a:r>
          </a:p>
        </p:txBody>
      </p:sp>
      <p:sp>
        <p:nvSpPr>
          <p:cNvPr id="2" name="">
            <a:extLst xmlns:a="http://schemas.openxmlformats.org/drawingml/2006/main">
              <a:ext uri="{FF2B5EF4-FFF2-40B4-BE49-F238E27FC236}">
                <a16:creationId xmlns:a16="http://schemas.microsoft.com/office/drawing/2014/main" id="{6F1376C7-ADB7-46FE-A2BA-97EA23157837}"/>
              </a:ext>
            </a:extLst>
          </p:cNvPr>
          <p:cNvSpPr>
            <a:spLocks xmlns:a="http://schemas.openxmlformats.org/drawingml/2006/main" noGrp="1"/>
          </p:cNvSpPr>
          <p:nvPr/>
        </p:nvSpPr>
        <p:spPr>
          <a:xfrm xmlns:a="http://schemas.openxmlformats.org/drawingml/2006/main">
            <a:off x="609600" y="1762125"/>
            <a:ext cx="180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876C9"/>
                </a:solidFill>
                <a:latin typeface="Helvetica Neue"/>
                <a:ea typeface="Helvetica Neue"/>
                <a:cs typeface="Helvetica Neue"/>
              </a:defRPr>
            </a:pPr>
            <a:r>
              <a:rPr sz="3000" b="1">
                <a:solidFill>
                  <a:srgbClr val="1876C9"/>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7052B050-5703-4417-A6AB-2EB4442080F3}"/>
              </a:ext>
            </a:extLst>
          </p:cNvPr>
          <p:cNvSpPr>
            <a:spLocks xmlns:a="http://schemas.openxmlformats.org/drawingml/2006/main" noGrp="1"/>
          </p:cNvSpPr>
          <p:nvPr/>
        </p:nvSpPr>
        <p:spPr>
          <a:xfrm xmlns:a="http://schemas.openxmlformats.org/drawingml/2006/main">
            <a:off x="609600" y="2571750"/>
            <a:ext cx="1962150" cy="1447800"/>
          </a:xfrm>
          <a:prstGeom xmlns:a="http://schemas.openxmlformats.org/drawingml/2006/main" prst="rect">
            <a:avLst/>
          </a:prstGeom>
          <a:solidFill xmlns:a="http://schemas.openxmlformats.org/drawingml/2006/main">
            <a:srgbClr val="F2F7FE"/>
          </a:solidFill>
          <a:ln xmlns:a="http://schemas.openxmlformats.org/drawingml/2006/main" w="14288">
            <a:solidFill>
              <a:srgbClr val="1876C9"/>
            </a:solidFill>
          </a:ln>
        </p:spPr>
      </p:sp>
      <p:sp>
        <p:nvSpPr>
          <p:cNvPr id="4" name="">
            <a:extLst xmlns:a="http://schemas.openxmlformats.org/drawingml/2006/main">
              <a:ext uri="{FF2B5EF4-FFF2-40B4-BE49-F238E27FC236}">
                <a16:creationId xmlns:a16="http://schemas.microsoft.com/office/drawing/2014/main" id="{FDA822B6-D8CA-44E2-B779-6BC0A4831644}"/>
              </a:ext>
            </a:extLst>
          </p:cNvPr>
          <p:cNvSpPr>
            <a:spLocks xmlns:a="http://schemas.openxmlformats.org/drawingml/2006/main" noGrp="1"/>
          </p:cNvSpPr>
          <p:nvPr/>
        </p:nvSpPr>
        <p:spPr>
          <a:xfrm xmlns:a="http://schemas.openxmlformats.org/drawingml/2006/main">
            <a:off x="723900" y="2743200"/>
            <a:ext cx="17335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23881"/>
                </a:solidFill>
                <a:latin typeface="Helvetica Neue"/>
                <a:ea typeface="Helvetica Neue"/>
                <a:cs typeface="Helvetica Neue"/>
              </a:defRPr>
            </a:pPr>
            <a:r>
              <a:rPr sz="2100" b="1">
                <a:solidFill>
                  <a:srgbClr val="123881"/>
                </a:solidFill>
                <a:latin typeface="Helvetica Neue"/>
                <a:ea typeface="Helvetica Neue"/>
                <a:cs typeface="Helvetica Neue"/>
              </a:rPr>
              <a:t>Your context</a:t>
            </a:r>
          </a:p>
        </p:txBody>
      </p:sp>
      <p:sp>
        <p:nvSpPr>
          <p:cNvPr id="5" name="">
            <a:extLst xmlns:a="http://schemas.openxmlformats.org/drawingml/2006/main">
              <a:ext uri="{FF2B5EF4-FFF2-40B4-BE49-F238E27FC236}">
                <a16:creationId xmlns:a16="http://schemas.microsoft.com/office/drawing/2014/main" id="{B82DB469-4174-44BA-851B-FC2BA5654327}"/>
              </a:ext>
            </a:extLst>
          </p:cNvPr>
          <p:cNvSpPr>
            <a:spLocks xmlns:a="http://schemas.openxmlformats.org/drawingml/2006/main" noGrp="1"/>
          </p:cNvSpPr>
          <p:nvPr/>
        </p:nvSpPr>
        <p:spPr>
          <a:xfrm xmlns:a="http://schemas.openxmlformats.org/drawingml/2006/main">
            <a:off x="723900" y="3467100"/>
            <a:ext cx="1733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36780"/>
                </a:solidFill>
                <a:latin typeface="Helvetica Neue"/>
                <a:ea typeface="Helvetica Neue"/>
                <a:cs typeface="Helvetica Neue"/>
              </a:defRPr>
            </a:pPr>
            <a:r>
              <a:rPr sz="1575" b="0">
                <a:solidFill>
                  <a:srgbClr val="536780"/>
                </a:solidFill>
                <a:latin typeface="Helvetica Neue"/>
                <a:ea typeface="Helvetica Neue"/>
                <a:cs typeface="Helvetica Neue"/>
              </a:rPr>
              <a:t>Prospect + offer</a:t>
            </a:r>
          </a:p>
        </p:txBody>
      </p:sp>
      <p:sp>
        <p:nvSpPr>
          <p:cNvPr id="6" name="">
            <a:extLst xmlns:a="http://schemas.openxmlformats.org/drawingml/2006/main">
              <a:ext uri="{FF2B5EF4-FFF2-40B4-BE49-F238E27FC236}">
                <a16:creationId xmlns:a16="http://schemas.microsoft.com/office/drawing/2014/main" id="{985D28DF-91C1-4B47-9ED7-87E66BEC6985}"/>
              </a:ext>
            </a:extLst>
          </p:cNvPr>
          <p:cNvSpPr>
            <a:spLocks xmlns:a="http://schemas.openxmlformats.org/drawingml/2006/main" noGrp="1"/>
          </p:cNvSpPr>
          <p:nvPr/>
        </p:nvSpPr>
        <p:spPr>
          <a:xfrm xmlns:a="http://schemas.openxmlformats.org/drawingml/2006/main">
            <a:off x="609600" y="4362450"/>
            <a:ext cx="20478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32C50"/>
                </a:solidFill>
                <a:latin typeface="Helvetica Neue"/>
                <a:ea typeface="Helvetica Neue"/>
                <a:cs typeface="Helvetica Neue"/>
              </a:defRPr>
            </a:pPr>
            <a:r>
              <a:rPr sz="1800" b="0">
                <a:solidFill>
                  <a:srgbClr val="132C50"/>
                </a:solidFill>
                <a:latin typeface="Helvetica Neue"/>
                <a:ea typeface="Helvetica Neue"/>
                <a:cs typeface="Helvetica Neue"/>
              </a:rPr>
              <a:t>Choose meeting prep</a:t>
            </a:r>
          </a:p>
          <a:p xmlns:a="http://schemas.openxmlformats.org/drawingml/2006/main">
            <a:pPr>
              <a:defRPr sz="1800" b="0">
                <a:solidFill>
                  <a:srgbClr val="132C50"/>
                </a:solidFill>
                <a:latin typeface="Helvetica Neue"/>
                <a:ea typeface="Helvetica Neue"/>
                <a:cs typeface="Helvetica Neue"/>
              </a:defRPr>
            </a:pPr>
            <a:r>
              <a:rPr sz="1800" b="0">
                <a:solidFill>
                  <a:srgbClr val="132C50"/>
                </a:solidFill>
                <a:latin typeface="Helvetica Neue"/>
                <a:ea typeface="Helvetica Neue"/>
                <a:cs typeface="Helvetica Neue"/>
              </a:rPr>
              <a:t>or outreach</a:t>
            </a:r>
          </a:p>
        </p:txBody>
      </p:sp>
      <p:sp>
        <p:nvSpPr>
          <p:cNvPr id="7" name="">
            <a:extLst xmlns:a="http://schemas.openxmlformats.org/drawingml/2006/main">
              <a:ext uri="{FF2B5EF4-FFF2-40B4-BE49-F238E27FC236}">
                <a16:creationId xmlns:a16="http://schemas.microsoft.com/office/drawing/2014/main" id="{D6689A27-3637-4F35-9EED-D221F5E4004F}"/>
              </a:ext>
            </a:extLst>
          </p:cNvPr>
          <p:cNvSpPr>
            <a:spLocks xmlns:a="http://schemas.openxmlformats.org/drawingml/2006/main" noGrp="1"/>
          </p:cNvSpPr>
          <p:nvPr/>
        </p:nvSpPr>
        <p:spPr>
          <a:xfrm xmlns:a="http://schemas.openxmlformats.org/drawingml/2006/main">
            <a:off x="2819400" y="1762125"/>
            <a:ext cx="180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876C9"/>
                </a:solidFill>
                <a:latin typeface="Helvetica Neue"/>
                <a:ea typeface="Helvetica Neue"/>
                <a:cs typeface="Helvetica Neue"/>
              </a:defRPr>
            </a:pPr>
            <a:r>
              <a:rPr sz="3000" b="1">
                <a:solidFill>
                  <a:srgbClr val="1876C9"/>
                </a:solidFill>
                <a:latin typeface="Helvetica Neue"/>
                <a:ea typeface="Helvetica Neue"/>
                <a:cs typeface="Helvetica Neue"/>
              </a:rPr>
              <a:t>02</a:t>
            </a:r>
          </a:p>
        </p:txBody>
      </p:sp>
      <p:sp>
        <p:nvSpPr>
          <p:cNvPr id="8" name="">
            <a:extLst xmlns:a="http://schemas.openxmlformats.org/drawingml/2006/main">
              <a:ext uri="{FF2B5EF4-FFF2-40B4-BE49-F238E27FC236}">
                <a16:creationId xmlns:a16="http://schemas.microsoft.com/office/drawing/2014/main" id="{B3E821AB-0D38-4567-9A70-06170E6EE33A}"/>
              </a:ext>
            </a:extLst>
          </p:cNvPr>
          <p:cNvSpPr>
            <a:spLocks xmlns:a="http://schemas.openxmlformats.org/drawingml/2006/main" noGrp="1"/>
          </p:cNvSpPr>
          <p:nvPr/>
        </p:nvSpPr>
        <p:spPr>
          <a:xfrm xmlns:a="http://schemas.openxmlformats.org/drawingml/2006/main">
            <a:off x="2819400" y="2571750"/>
            <a:ext cx="1962150" cy="1447800"/>
          </a:xfrm>
          <a:prstGeom xmlns:a="http://schemas.openxmlformats.org/drawingml/2006/main" prst="rect">
            <a:avLst/>
          </a:prstGeom>
          <a:solidFill xmlns:a="http://schemas.openxmlformats.org/drawingml/2006/main">
            <a:srgbClr val="F2F7FE"/>
          </a:solidFill>
          <a:ln xmlns:a="http://schemas.openxmlformats.org/drawingml/2006/main" w="14288">
            <a:solidFill>
              <a:srgbClr val="1876C9"/>
            </a:solidFill>
          </a:ln>
        </p:spPr>
      </p:sp>
      <p:sp>
        <p:nvSpPr>
          <p:cNvPr id="9" name="">
            <a:extLst xmlns:a="http://schemas.openxmlformats.org/drawingml/2006/main">
              <a:ext uri="{FF2B5EF4-FFF2-40B4-BE49-F238E27FC236}">
                <a16:creationId xmlns:a16="http://schemas.microsoft.com/office/drawing/2014/main" id="{72DD475A-DC8A-4712-8336-191A9FAED594}"/>
              </a:ext>
            </a:extLst>
          </p:cNvPr>
          <p:cNvSpPr>
            <a:spLocks xmlns:a="http://schemas.openxmlformats.org/drawingml/2006/main" noGrp="1"/>
          </p:cNvSpPr>
          <p:nvPr/>
        </p:nvSpPr>
        <p:spPr>
          <a:xfrm xmlns:a="http://schemas.openxmlformats.org/drawingml/2006/main">
            <a:off x="2933700" y="2743200"/>
            <a:ext cx="17335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23881"/>
                </a:solidFill>
                <a:latin typeface="Helvetica Neue"/>
                <a:ea typeface="Helvetica Neue"/>
                <a:cs typeface="Helvetica Neue"/>
              </a:defRPr>
            </a:pPr>
            <a:r>
              <a:rPr sz="2100" b="1">
                <a:solidFill>
                  <a:srgbClr val="123881"/>
                </a:solidFill>
                <a:latin typeface="Helvetica Neue"/>
                <a:ea typeface="Helvetica Neue"/>
                <a:cs typeface="Helvetica Neue"/>
              </a:rPr>
              <a:t>Public sources</a:t>
            </a:r>
          </a:p>
        </p:txBody>
      </p:sp>
      <p:sp>
        <p:nvSpPr>
          <p:cNvPr id="10" name="">
            <a:extLst xmlns:a="http://schemas.openxmlformats.org/drawingml/2006/main">
              <a:ext uri="{FF2B5EF4-FFF2-40B4-BE49-F238E27FC236}">
                <a16:creationId xmlns:a16="http://schemas.microsoft.com/office/drawing/2014/main" id="{03DB3F76-99BC-4423-9392-1B70D1716E4B}"/>
              </a:ext>
            </a:extLst>
          </p:cNvPr>
          <p:cNvSpPr>
            <a:spLocks xmlns:a="http://schemas.openxmlformats.org/drawingml/2006/main" noGrp="1"/>
          </p:cNvSpPr>
          <p:nvPr/>
        </p:nvSpPr>
        <p:spPr>
          <a:xfrm xmlns:a="http://schemas.openxmlformats.org/drawingml/2006/main">
            <a:off x="2933700" y="3467100"/>
            <a:ext cx="1733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36780"/>
                </a:solidFill>
                <a:latin typeface="Helvetica Neue"/>
                <a:ea typeface="Helvetica Neue"/>
                <a:cs typeface="Helvetica Neue"/>
              </a:defRPr>
            </a:pPr>
            <a:r>
              <a:rPr sz="1575" b="0">
                <a:solidFill>
                  <a:srgbClr val="536780"/>
                </a:solidFill>
                <a:latin typeface="Helvetica Neue"/>
                <a:ea typeface="Helvetica Neue"/>
                <a:cs typeface="Helvetica Neue"/>
              </a:rPr>
              <a:t>Tavily discovery</a:t>
            </a:r>
          </a:p>
        </p:txBody>
      </p:sp>
      <p:sp>
        <p:nvSpPr>
          <p:cNvPr id="11" name="">
            <a:extLst xmlns:a="http://schemas.openxmlformats.org/drawingml/2006/main">
              <a:ext uri="{FF2B5EF4-FFF2-40B4-BE49-F238E27FC236}">
                <a16:creationId xmlns:a16="http://schemas.microsoft.com/office/drawing/2014/main" id="{E6A57829-F8CE-4C73-837F-2E93B262F256}"/>
              </a:ext>
            </a:extLst>
          </p:cNvPr>
          <p:cNvSpPr>
            <a:spLocks xmlns:a="http://schemas.openxmlformats.org/drawingml/2006/main" noGrp="1"/>
          </p:cNvSpPr>
          <p:nvPr/>
        </p:nvSpPr>
        <p:spPr>
          <a:xfrm xmlns:a="http://schemas.openxmlformats.org/drawingml/2006/main">
            <a:off x="2819400" y="4362450"/>
            <a:ext cx="20478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32C50"/>
                </a:solidFill>
                <a:latin typeface="Helvetica Neue"/>
                <a:ea typeface="Helvetica Neue"/>
                <a:cs typeface="Helvetica Neue"/>
              </a:defRPr>
            </a:pPr>
            <a:r>
              <a:rPr sz="1800" b="0">
                <a:solidFill>
                  <a:srgbClr val="132C50"/>
                </a:solidFill>
                <a:latin typeface="Helvetica Neue"/>
                <a:ea typeface="Helvetica Neue"/>
                <a:cs typeface="Helvetica Neue"/>
              </a:rPr>
              <a:t>Find relevant company</a:t>
            </a:r>
          </a:p>
          <a:p xmlns:a="http://schemas.openxmlformats.org/drawingml/2006/main">
            <a:pPr>
              <a:defRPr sz="1800" b="0">
                <a:solidFill>
                  <a:srgbClr val="132C50"/>
                </a:solidFill>
                <a:latin typeface="Helvetica Neue"/>
                <a:ea typeface="Helvetica Neue"/>
                <a:cs typeface="Helvetica Neue"/>
              </a:defRPr>
            </a:pPr>
            <a:r>
              <a:rPr sz="1800" b="0">
                <a:solidFill>
                  <a:srgbClr val="132C50"/>
                </a:solidFill>
                <a:latin typeface="Helvetica Neue"/>
                <a:ea typeface="Helvetica Neue"/>
                <a:cs typeface="Helvetica Neue"/>
              </a:rPr>
              <a:t>and prospect signals</a:t>
            </a:r>
          </a:p>
        </p:txBody>
      </p:sp>
      <p:cxnSp>
        <p:nvCxnSpPr>
          <p:cNvPr id="43" name=""/>
          <p:cNvCxnSpPr>
            <a:stCxn xmlns:a="http://schemas.openxmlformats.org/drawingml/2006/main" id="3" idx="3"/>
            <a:endCxn xmlns:a="http://schemas.openxmlformats.org/drawingml/2006/main" id="8" idx="1"/>
          </p:cNvCxnSpPr>
          <p:nvPr/>
        </p:nvCxnSpPr>
        <p:spPr>
          <a:xfrm xmlns:a="http://schemas.openxmlformats.org/drawingml/2006/main">
            <a:off x="2571750" y="3295650"/>
            <a:ext cx="247650" cy="0"/>
          </a:xfrm>
          <a:prstGeom xmlns:a="http://schemas.openxmlformats.org/drawingml/2006/main" prst="straightConnector1">
            <a:avLst/>
          </a:prstGeom>
          <a:ln xmlns:a="http://schemas.openxmlformats.org/drawingml/2006/main" w="19050">
            <a:solidFill>
              <a:srgbClr val="1876C9"/>
            </a:solidFill>
            <a:tailEnd type="triangle" w="med" len="med"/>
          </a:ln>
        </p:spPr>
      </p:cxnSp>
      <p:sp>
        <p:nvSpPr>
          <p:cNvPr id="13" name="">
            <a:extLst xmlns:a="http://schemas.openxmlformats.org/drawingml/2006/main">
              <a:ext uri="{FF2B5EF4-FFF2-40B4-BE49-F238E27FC236}">
                <a16:creationId xmlns:a16="http://schemas.microsoft.com/office/drawing/2014/main" id="{56CC8422-48AE-499A-9FD5-D06F333AE243}"/>
              </a:ext>
            </a:extLst>
          </p:cNvPr>
          <p:cNvSpPr>
            <a:spLocks xmlns:a="http://schemas.openxmlformats.org/drawingml/2006/main" noGrp="1"/>
          </p:cNvSpPr>
          <p:nvPr/>
        </p:nvSpPr>
        <p:spPr>
          <a:xfrm xmlns:a="http://schemas.openxmlformats.org/drawingml/2006/main">
            <a:off x="5029200" y="1762125"/>
            <a:ext cx="180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876C9"/>
                </a:solidFill>
                <a:latin typeface="Helvetica Neue"/>
                <a:ea typeface="Helvetica Neue"/>
                <a:cs typeface="Helvetica Neue"/>
              </a:defRPr>
            </a:pPr>
            <a:r>
              <a:rPr sz="3000" b="1">
                <a:solidFill>
                  <a:srgbClr val="1876C9"/>
                </a:solidFill>
                <a:latin typeface="Helvetica Neue"/>
                <a:ea typeface="Helvetica Neue"/>
                <a:cs typeface="Helvetica Neue"/>
              </a:rPr>
              <a:t>03</a:t>
            </a:r>
          </a:p>
        </p:txBody>
      </p:sp>
      <p:sp>
        <p:nvSpPr>
          <p:cNvPr id="14" name="">
            <a:extLst xmlns:a="http://schemas.openxmlformats.org/drawingml/2006/main">
              <a:ext uri="{FF2B5EF4-FFF2-40B4-BE49-F238E27FC236}">
                <a16:creationId xmlns:a16="http://schemas.microsoft.com/office/drawing/2014/main" id="{7E477658-21B5-4720-B690-EF8C7A77B263}"/>
              </a:ext>
            </a:extLst>
          </p:cNvPr>
          <p:cNvSpPr>
            <a:spLocks xmlns:a="http://schemas.openxmlformats.org/drawingml/2006/main" noGrp="1"/>
          </p:cNvSpPr>
          <p:nvPr/>
        </p:nvSpPr>
        <p:spPr>
          <a:xfrm xmlns:a="http://schemas.openxmlformats.org/drawingml/2006/main">
            <a:off x="5029200" y="2571750"/>
            <a:ext cx="1962150" cy="1447800"/>
          </a:xfrm>
          <a:prstGeom xmlns:a="http://schemas.openxmlformats.org/drawingml/2006/main" prst="rect">
            <a:avLst/>
          </a:prstGeom>
          <a:solidFill xmlns:a="http://schemas.openxmlformats.org/drawingml/2006/main">
            <a:srgbClr val="F2F7FE"/>
          </a:solidFill>
          <a:ln xmlns:a="http://schemas.openxmlformats.org/drawingml/2006/main" w="14288">
            <a:solidFill>
              <a:srgbClr val="1876C9"/>
            </a:solidFill>
          </a:ln>
        </p:spPr>
      </p:sp>
      <p:sp>
        <p:nvSpPr>
          <p:cNvPr id="15" name="">
            <a:extLst xmlns:a="http://schemas.openxmlformats.org/drawingml/2006/main">
              <a:ext uri="{FF2B5EF4-FFF2-40B4-BE49-F238E27FC236}">
                <a16:creationId xmlns:a16="http://schemas.microsoft.com/office/drawing/2014/main" id="{992AC23F-B826-4AB2-AE28-0B1BDE225871}"/>
              </a:ext>
            </a:extLst>
          </p:cNvPr>
          <p:cNvSpPr>
            <a:spLocks xmlns:a="http://schemas.openxmlformats.org/drawingml/2006/main" noGrp="1"/>
          </p:cNvSpPr>
          <p:nvPr/>
        </p:nvSpPr>
        <p:spPr>
          <a:xfrm xmlns:a="http://schemas.openxmlformats.org/drawingml/2006/main">
            <a:off x="5143500" y="2743200"/>
            <a:ext cx="17335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23881"/>
                </a:solidFill>
                <a:latin typeface="Helvetica Neue"/>
                <a:ea typeface="Helvetica Neue"/>
                <a:cs typeface="Helvetica Neue"/>
              </a:defRPr>
            </a:pPr>
            <a:r>
              <a:rPr sz="2100" b="1">
                <a:solidFill>
                  <a:srgbClr val="123881"/>
                </a:solidFill>
                <a:latin typeface="Helvetica Neue"/>
                <a:ea typeface="Helvetica Neue"/>
                <a:cs typeface="Helvetica Neue"/>
              </a:rPr>
              <a:t>Stored evidence</a:t>
            </a:r>
          </a:p>
        </p:txBody>
      </p:sp>
      <p:sp>
        <p:nvSpPr>
          <p:cNvPr id="16" name="">
            <a:extLst xmlns:a="http://schemas.openxmlformats.org/drawingml/2006/main">
              <a:ext uri="{FF2B5EF4-FFF2-40B4-BE49-F238E27FC236}">
                <a16:creationId xmlns:a16="http://schemas.microsoft.com/office/drawing/2014/main" id="{9D39B545-E045-491B-859F-0DC0A89018C7}"/>
              </a:ext>
            </a:extLst>
          </p:cNvPr>
          <p:cNvSpPr>
            <a:spLocks xmlns:a="http://schemas.openxmlformats.org/drawingml/2006/main" noGrp="1"/>
          </p:cNvSpPr>
          <p:nvPr/>
        </p:nvSpPr>
        <p:spPr>
          <a:xfrm xmlns:a="http://schemas.openxmlformats.org/drawingml/2006/main">
            <a:off x="5143500" y="3467100"/>
            <a:ext cx="1733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36780"/>
                </a:solidFill>
                <a:latin typeface="Helvetica Neue"/>
                <a:ea typeface="Helvetica Neue"/>
                <a:cs typeface="Helvetica Neue"/>
              </a:defRPr>
            </a:pPr>
            <a:r>
              <a:rPr sz="1575" b="0">
                <a:solidFill>
                  <a:srgbClr val="536780"/>
                </a:solidFill>
                <a:latin typeface="Helvetica Neue"/>
                <a:ea typeface="Helvetica Neue"/>
                <a:cs typeface="Helvetica Neue"/>
              </a:rPr>
              <a:t>Qwen + DashScope</a:t>
            </a:r>
          </a:p>
        </p:txBody>
      </p:sp>
      <p:sp>
        <p:nvSpPr>
          <p:cNvPr id="17" name="">
            <a:extLst xmlns:a="http://schemas.openxmlformats.org/drawingml/2006/main">
              <a:ext uri="{FF2B5EF4-FFF2-40B4-BE49-F238E27FC236}">
                <a16:creationId xmlns:a16="http://schemas.microsoft.com/office/drawing/2014/main" id="{77204E6A-F6BA-4535-962C-C41542B12E2B}"/>
              </a:ext>
            </a:extLst>
          </p:cNvPr>
          <p:cNvSpPr>
            <a:spLocks xmlns:a="http://schemas.openxmlformats.org/drawingml/2006/main" noGrp="1"/>
          </p:cNvSpPr>
          <p:nvPr/>
        </p:nvSpPr>
        <p:spPr>
          <a:xfrm xmlns:a="http://schemas.openxmlformats.org/drawingml/2006/main">
            <a:off x="5029200" y="4362450"/>
            <a:ext cx="20478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32C50"/>
                </a:solidFill>
                <a:latin typeface="Helvetica Neue"/>
                <a:ea typeface="Helvetica Neue"/>
                <a:cs typeface="Helvetica Neue"/>
              </a:defRPr>
            </a:pPr>
            <a:r>
              <a:rPr sz="1800" b="0">
                <a:solidFill>
                  <a:srgbClr val="132C50"/>
                </a:solidFill>
                <a:latin typeface="Helvetica Neue"/>
                <a:ea typeface="Helvetica Neue"/>
                <a:cs typeface="Helvetica Neue"/>
              </a:rPr>
              <a:t>Extract claims with</a:t>
            </a:r>
          </a:p>
          <a:p xmlns:a="http://schemas.openxmlformats.org/drawingml/2006/main">
            <a:pPr>
              <a:defRPr sz="1800" b="0">
                <a:solidFill>
                  <a:srgbClr val="132C50"/>
                </a:solidFill>
                <a:latin typeface="Helvetica Neue"/>
                <a:ea typeface="Helvetica Neue"/>
                <a:cs typeface="Helvetica Neue"/>
              </a:defRPr>
            </a:pPr>
            <a:r>
              <a:rPr sz="1800" b="0">
                <a:solidFill>
                  <a:srgbClr val="132C50"/>
                </a:solidFill>
                <a:latin typeface="Helvetica Neue"/>
                <a:ea typeface="Helvetica Neue"/>
                <a:cs typeface="Helvetica Neue"/>
              </a:rPr>
              <a:t>confidence and links</a:t>
            </a:r>
          </a:p>
        </p:txBody>
      </p:sp>
      <p:cxnSp>
        <p:nvCxnSpPr>
          <p:cNvPr id="49" name=""/>
          <p:cNvCxnSpPr>
            <a:stCxn xmlns:a="http://schemas.openxmlformats.org/drawingml/2006/main" id="8" idx="3"/>
            <a:endCxn xmlns:a="http://schemas.openxmlformats.org/drawingml/2006/main" id="14" idx="1"/>
          </p:cNvCxnSpPr>
          <p:nvPr/>
        </p:nvCxnSpPr>
        <p:spPr>
          <a:xfrm xmlns:a="http://schemas.openxmlformats.org/drawingml/2006/main">
            <a:off x="4781550" y="3295650"/>
            <a:ext cx="247650" cy="0"/>
          </a:xfrm>
          <a:prstGeom xmlns:a="http://schemas.openxmlformats.org/drawingml/2006/main" prst="straightConnector1">
            <a:avLst/>
          </a:prstGeom>
          <a:ln xmlns:a="http://schemas.openxmlformats.org/drawingml/2006/main" w="19050">
            <a:solidFill>
              <a:srgbClr val="1876C9"/>
            </a:solidFill>
            <a:tailEnd type="triangle" w="med" len="med"/>
          </a:ln>
        </p:spPr>
      </p:cxnSp>
      <p:sp>
        <p:nvSpPr>
          <p:cNvPr id="19" name="">
            <a:extLst xmlns:a="http://schemas.openxmlformats.org/drawingml/2006/main">
              <a:ext uri="{FF2B5EF4-FFF2-40B4-BE49-F238E27FC236}">
                <a16:creationId xmlns:a16="http://schemas.microsoft.com/office/drawing/2014/main" id="{D65CA617-7FC7-44F4-B7FE-08061465D9A6}"/>
              </a:ext>
            </a:extLst>
          </p:cNvPr>
          <p:cNvSpPr>
            <a:spLocks xmlns:a="http://schemas.openxmlformats.org/drawingml/2006/main" noGrp="1"/>
          </p:cNvSpPr>
          <p:nvPr/>
        </p:nvSpPr>
        <p:spPr>
          <a:xfrm xmlns:a="http://schemas.openxmlformats.org/drawingml/2006/main">
            <a:off x="7239000" y="1762125"/>
            <a:ext cx="180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876C9"/>
                </a:solidFill>
                <a:latin typeface="Helvetica Neue"/>
                <a:ea typeface="Helvetica Neue"/>
                <a:cs typeface="Helvetica Neue"/>
              </a:defRPr>
            </a:pPr>
            <a:r>
              <a:rPr sz="3000" b="1">
                <a:solidFill>
                  <a:srgbClr val="1876C9"/>
                </a:solidFill>
                <a:latin typeface="Helvetica Neue"/>
                <a:ea typeface="Helvetica Neue"/>
                <a:cs typeface="Helvetica Neue"/>
              </a:rPr>
              <a:t>04</a:t>
            </a:r>
          </a:p>
        </p:txBody>
      </p:sp>
      <p:sp>
        <p:nvSpPr>
          <p:cNvPr id="20" name="">
            <a:extLst xmlns:a="http://schemas.openxmlformats.org/drawingml/2006/main">
              <a:ext uri="{FF2B5EF4-FFF2-40B4-BE49-F238E27FC236}">
                <a16:creationId xmlns:a16="http://schemas.microsoft.com/office/drawing/2014/main" id="{7615F961-0DF7-48CC-B6D1-183B03C56027}"/>
              </a:ext>
            </a:extLst>
          </p:cNvPr>
          <p:cNvSpPr>
            <a:spLocks xmlns:a="http://schemas.openxmlformats.org/drawingml/2006/main" noGrp="1"/>
          </p:cNvSpPr>
          <p:nvPr/>
        </p:nvSpPr>
        <p:spPr>
          <a:xfrm xmlns:a="http://schemas.openxmlformats.org/drawingml/2006/main">
            <a:off x="7239000" y="2571750"/>
            <a:ext cx="1962150" cy="1447800"/>
          </a:xfrm>
          <a:prstGeom xmlns:a="http://schemas.openxmlformats.org/drawingml/2006/main" prst="rect">
            <a:avLst/>
          </a:prstGeom>
          <a:solidFill xmlns:a="http://schemas.openxmlformats.org/drawingml/2006/main">
            <a:srgbClr val="F2F7FE"/>
          </a:solidFill>
          <a:ln xmlns:a="http://schemas.openxmlformats.org/drawingml/2006/main" w="14288">
            <a:solidFill>
              <a:srgbClr val="1876C9"/>
            </a:solidFill>
          </a:ln>
        </p:spPr>
      </p:sp>
      <p:sp>
        <p:nvSpPr>
          <p:cNvPr id="21" name="">
            <a:extLst xmlns:a="http://schemas.openxmlformats.org/drawingml/2006/main">
              <a:ext uri="{FF2B5EF4-FFF2-40B4-BE49-F238E27FC236}">
                <a16:creationId xmlns:a16="http://schemas.microsoft.com/office/drawing/2014/main" id="{1589BE94-830D-43A5-A3D0-4C4BF9EB27E5}"/>
              </a:ext>
            </a:extLst>
          </p:cNvPr>
          <p:cNvSpPr>
            <a:spLocks xmlns:a="http://schemas.openxmlformats.org/drawingml/2006/main" noGrp="1"/>
          </p:cNvSpPr>
          <p:nvPr/>
        </p:nvSpPr>
        <p:spPr>
          <a:xfrm xmlns:a="http://schemas.openxmlformats.org/drawingml/2006/main">
            <a:off x="7353300" y="2743200"/>
            <a:ext cx="17335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23881"/>
                </a:solidFill>
                <a:latin typeface="Helvetica Neue"/>
                <a:ea typeface="Helvetica Neue"/>
                <a:cs typeface="Helvetica Neue"/>
              </a:defRPr>
            </a:pPr>
            <a:r>
              <a:rPr sz="2100" b="1">
                <a:solidFill>
                  <a:srgbClr val="123881"/>
                </a:solidFill>
                <a:latin typeface="Helvetica Neue"/>
                <a:ea typeface="Helvetica Neue"/>
                <a:cs typeface="Helvetica Neue"/>
              </a:rPr>
              <a:t>Deal Brief</a:t>
            </a:r>
          </a:p>
        </p:txBody>
      </p:sp>
      <p:sp>
        <p:nvSpPr>
          <p:cNvPr id="22" name="">
            <a:extLst xmlns:a="http://schemas.openxmlformats.org/drawingml/2006/main">
              <a:ext uri="{FF2B5EF4-FFF2-40B4-BE49-F238E27FC236}">
                <a16:creationId xmlns:a16="http://schemas.microsoft.com/office/drawing/2014/main" id="{638E466C-0E99-44E2-8F30-4FFD1662A4C0}"/>
              </a:ext>
            </a:extLst>
          </p:cNvPr>
          <p:cNvSpPr>
            <a:spLocks xmlns:a="http://schemas.openxmlformats.org/drawingml/2006/main" noGrp="1"/>
          </p:cNvSpPr>
          <p:nvPr/>
        </p:nvSpPr>
        <p:spPr>
          <a:xfrm xmlns:a="http://schemas.openxmlformats.org/drawingml/2006/main">
            <a:off x="7353300" y="3467100"/>
            <a:ext cx="1733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36780"/>
                </a:solidFill>
                <a:latin typeface="Helvetica Neue"/>
                <a:ea typeface="Helvetica Neue"/>
                <a:cs typeface="Helvetica Neue"/>
              </a:defRPr>
            </a:pPr>
            <a:r>
              <a:rPr sz="1575" b="0">
                <a:solidFill>
                  <a:srgbClr val="536780"/>
                </a:solidFill>
                <a:latin typeface="Helvetica Neue"/>
                <a:ea typeface="Helvetica Neue"/>
                <a:cs typeface="Helvetica Neue"/>
              </a:rPr>
              <a:t>LangGraph + checks</a:t>
            </a:r>
          </a:p>
        </p:txBody>
      </p:sp>
      <p:sp>
        <p:nvSpPr>
          <p:cNvPr id="23" name="">
            <a:extLst xmlns:a="http://schemas.openxmlformats.org/drawingml/2006/main">
              <a:ext uri="{FF2B5EF4-FFF2-40B4-BE49-F238E27FC236}">
                <a16:creationId xmlns:a16="http://schemas.microsoft.com/office/drawing/2014/main" id="{1EA475C3-4059-4300-86C3-0A868044F661}"/>
              </a:ext>
            </a:extLst>
          </p:cNvPr>
          <p:cNvSpPr>
            <a:spLocks xmlns:a="http://schemas.openxmlformats.org/drawingml/2006/main" noGrp="1"/>
          </p:cNvSpPr>
          <p:nvPr/>
        </p:nvSpPr>
        <p:spPr>
          <a:xfrm xmlns:a="http://schemas.openxmlformats.org/drawingml/2006/main">
            <a:off x="7239000" y="4362450"/>
            <a:ext cx="20478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32C50"/>
                </a:solidFill>
                <a:latin typeface="Helvetica Neue"/>
                <a:ea typeface="Helvetica Neue"/>
                <a:cs typeface="Helvetica Neue"/>
              </a:defRPr>
            </a:pPr>
            <a:r>
              <a:rPr sz="1800" b="0">
                <a:solidFill>
                  <a:srgbClr val="132C50"/>
                </a:solidFill>
                <a:latin typeface="Helvetica Neue"/>
                <a:ea typeface="Helvetica Neue"/>
                <a:cs typeface="Helvetica Neue"/>
              </a:rPr>
              <a:t>Generate the brief and</a:t>
            </a:r>
          </a:p>
          <a:p xmlns:a="http://schemas.openxmlformats.org/drawingml/2006/main">
            <a:pPr>
              <a:defRPr sz="1800" b="0">
                <a:solidFill>
                  <a:srgbClr val="132C50"/>
                </a:solidFill>
                <a:latin typeface="Helvetica Neue"/>
                <a:ea typeface="Helvetica Neue"/>
                <a:cs typeface="Helvetica Neue"/>
              </a:defRPr>
            </a:pPr>
            <a:r>
              <a:rPr sz="1800" b="0">
                <a:solidFill>
                  <a:srgbClr val="132C50"/>
                </a:solidFill>
                <a:latin typeface="Helvetica Neue"/>
                <a:ea typeface="Helvetica Neue"/>
                <a:cs typeface="Helvetica Neue"/>
              </a:rPr>
              <a:t>check key citations</a:t>
            </a:r>
          </a:p>
        </p:txBody>
      </p:sp>
      <p:cxnSp>
        <p:nvCxnSpPr>
          <p:cNvPr id="55" name=""/>
          <p:cNvCxnSpPr>
            <a:stCxn xmlns:a="http://schemas.openxmlformats.org/drawingml/2006/main" id="14" idx="3"/>
            <a:endCxn xmlns:a="http://schemas.openxmlformats.org/drawingml/2006/main" id="20" idx="1"/>
          </p:cNvCxnSpPr>
          <p:nvPr/>
        </p:nvCxnSpPr>
        <p:spPr>
          <a:xfrm xmlns:a="http://schemas.openxmlformats.org/drawingml/2006/main">
            <a:off x="6991350" y="3295650"/>
            <a:ext cx="247650" cy="0"/>
          </a:xfrm>
          <a:prstGeom xmlns:a="http://schemas.openxmlformats.org/drawingml/2006/main" prst="straightConnector1">
            <a:avLst/>
          </a:prstGeom>
          <a:ln xmlns:a="http://schemas.openxmlformats.org/drawingml/2006/main" w="19050">
            <a:solidFill>
              <a:srgbClr val="1876C9"/>
            </a:solidFill>
            <a:tailEnd type="triangle" w="med" len="med"/>
          </a:ln>
        </p:spPr>
      </p:cxnSp>
      <p:sp>
        <p:nvSpPr>
          <p:cNvPr id="25" name="">
            <a:extLst xmlns:a="http://schemas.openxmlformats.org/drawingml/2006/main">
              <a:ext uri="{FF2B5EF4-FFF2-40B4-BE49-F238E27FC236}">
                <a16:creationId xmlns:a16="http://schemas.microsoft.com/office/drawing/2014/main" id="{4F5563AB-5754-4173-9FF3-38F28B4C07B1}"/>
              </a:ext>
            </a:extLst>
          </p:cNvPr>
          <p:cNvSpPr>
            <a:spLocks xmlns:a="http://schemas.openxmlformats.org/drawingml/2006/main" noGrp="1"/>
          </p:cNvSpPr>
          <p:nvPr/>
        </p:nvSpPr>
        <p:spPr>
          <a:xfrm xmlns:a="http://schemas.openxmlformats.org/drawingml/2006/main">
            <a:off x="9448800" y="1762125"/>
            <a:ext cx="180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876C9"/>
                </a:solidFill>
                <a:latin typeface="Helvetica Neue"/>
                <a:ea typeface="Helvetica Neue"/>
                <a:cs typeface="Helvetica Neue"/>
              </a:defRPr>
            </a:pPr>
            <a:r>
              <a:rPr sz="3000" b="1">
                <a:solidFill>
                  <a:srgbClr val="1876C9"/>
                </a:solidFill>
                <a:latin typeface="Helvetica Neue"/>
                <a:ea typeface="Helvetica Neue"/>
                <a:cs typeface="Helvetica Neue"/>
              </a:rPr>
              <a:t>05</a:t>
            </a:r>
          </a:p>
        </p:txBody>
      </p:sp>
      <p:sp>
        <p:nvSpPr>
          <p:cNvPr id="26" name="">
            <a:extLst xmlns:a="http://schemas.openxmlformats.org/drawingml/2006/main">
              <a:ext uri="{FF2B5EF4-FFF2-40B4-BE49-F238E27FC236}">
                <a16:creationId xmlns:a16="http://schemas.microsoft.com/office/drawing/2014/main" id="{FBA59C3F-44E7-4587-BFC0-9AA9CCAB9010}"/>
              </a:ext>
            </a:extLst>
          </p:cNvPr>
          <p:cNvSpPr>
            <a:spLocks xmlns:a="http://schemas.openxmlformats.org/drawingml/2006/main" noGrp="1"/>
          </p:cNvSpPr>
          <p:nvPr/>
        </p:nvSpPr>
        <p:spPr>
          <a:xfrm xmlns:a="http://schemas.openxmlformats.org/drawingml/2006/main">
            <a:off x="9448800" y="2571750"/>
            <a:ext cx="1962150" cy="1447800"/>
          </a:xfrm>
          <a:prstGeom xmlns:a="http://schemas.openxmlformats.org/drawingml/2006/main" prst="rect">
            <a:avLst/>
          </a:prstGeom>
          <a:solidFill xmlns:a="http://schemas.openxmlformats.org/drawingml/2006/main">
            <a:srgbClr val="123881"/>
          </a:solidFill>
          <a:ln xmlns:a="http://schemas.openxmlformats.org/drawingml/2006/main" w="14288">
            <a:solidFill>
              <a:srgbClr val="123881"/>
            </a:solidFill>
          </a:ln>
        </p:spPr>
      </p:sp>
      <p:sp>
        <p:nvSpPr>
          <p:cNvPr id="27" name="">
            <a:extLst xmlns:a="http://schemas.openxmlformats.org/drawingml/2006/main">
              <a:ext uri="{FF2B5EF4-FFF2-40B4-BE49-F238E27FC236}">
                <a16:creationId xmlns:a16="http://schemas.microsoft.com/office/drawing/2014/main" id="{BDC9FF47-CCBE-4D14-AA85-1FD5D66F4906}"/>
              </a:ext>
            </a:extLst>
          </p:cNvPr>
          <p:cNvSpPr>
            <a:spLocks xmlns:a="http://schemas.openxmlformats.org/drawingml/2006/main" noGrp="1"/>
          </p:cNvSpPr>
          <p:nvPr/>
        </p:nvSpPr>
        <p:spPr>
          <a:xfrm xmlns:a="http://schemas.openxmlformats.org/drawingml/2006/main">
            <a:off x="9563100" y="2743200"/>
            <a:ext cx="17335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FFFFFF"/>
                </a:solidFill>
                <a:latin typeface="Helvetica Neue"/>
                <a:ea typeface="Helvetica Neue"/>
                <a:cs typeface="Helvetica Neue"/>
              </a:defRPr>
            </a:pPr>
            <a:r>
              <a:rPr sz="2100" b="1">
                <a:solidFill>
                  <a:srgbClr val="FFFFFF"/>
                </a:solidFill>
                <a:latin typeface="Helvetica Neue"/>
                <a:ea typeface="Helvetica Neue"/>
                <a:cs typeface="Helvetica Neue"/>
              </a:rPr>
              <a:t>Your review</a:t>
            </a:r>
          </a:p>
        </p:txBody>
      </p:sp>
      <p:sp>
        <p:nvSpPr>
          <p:cNvPr id="28" name="">
            <a:extLst xmlns:a="http://schemas.openxmlformats.org/drawingml/2006/main">
              <a:ext uri="{FF2B5EF4-FFF2-40B4-BE49-F238E27FC236}">
                <a16:creationId xmlns:a16="http://schemas.microsoft.com/office/drawing/2014/main" id="{6D879099-B3D0-453C-A812-0C5B9A0E79AD}"/>
              </a:ext>
            </a:extLst>
          </p:cNvPr>
          <p:cNvSpPr>
            <a:spLocks xmlns:a="http://schemas.openxmlformats.org/drawingml/2006/main" noGrp="1"/>
          </p:cNvSpPr>
          <p:nvPr/>
        </p:nvSpPr>
        <p:spPr>
          <a:xfrm xmlns:a="http://schemas.openxmlformats.org/drawingml/2006/main">
            <a:off x="9563100" y="3467100"/>
            <a:ext cx="1733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FFFFFF"/>
                </a:solidFill>
                <a:latin typeface="Helvetica Neue"/>
                <a:ea typeface="Helvetica Neue"/>
                <a:cs typeface="Helvetica Neue"/>
              </a:defRPr>
            </a:pPr>
            <a:r>
              <a:rPr sz="1575" b="0">
                <a:solidFill>
                  <a:srgbClr val="FFFFFF"/>
                </a:solidFill>
                <a:latin typeface="Helvetica Neue"/>
                <a:ea typeface="Helvetica Neue"/>
                <a:cs typeface="Helvetica Neue"/>
              </a:rPr>
              <a:t>Ready for use</a:t>
            </a:r>
          </a:p>
        </p:txBody>
      </p:sp>
      <p:sp>
        <p:nvSpPr>
          <p:cNvPr id="29" name="">
            <a:extLst xmlns:a="http://schemas.openxmlformats.org/drawingml/2006/main">
              <a:ext uri="{FF2B5EF4-FFF2-40B4-BE49-F238E27FC236}">
                <a16:creationId xmlns:a16="http://schemas.microsoft.com/office/drawing/2014/main" id="{93248332-88A3-4D2E-BE47-C12967AC61AB}"/>
              </a:ext>
            </a:extLst>
          </p:cNvPr>
          <p:cNvSpPr>
            <a:spLocks xmlns:a="http://schemas.openxmlformats.org/drawingml/2006/main" noGrp="1"/>
          </p:cNvSpPr>
          <p:nvPr/>
        </p:nvSpPr>
        <p:spPr>
          <a:xfrm xmlns:a="http://schemas.openxmlformats.org/drawingml/2006/main">
            <a:off x="9448800" y="4362450"/>
            <a:ext cx="20478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32C50"/>
                </a:solidFill>
                <a:latin typeface="Helvetica Neue"/>
                <a:ea typeface="Helvetica Neue"/>
                <a:cs typeface="Helvetica Neue"/>
              </a:defRPr>
            </a:pPr>
            <a:r>
              <a:rPr sz="1800" b="0">
                <a:solidFill>
                  <a:srgbClr val="132C50"/>
                </a:solidFill>
                <a:latin typeface="Helvetica Neue"/>
                <a:ea typeface="Helvetica Neue"/>
                <a:cs typeface="Helvetica Neue"/>
              </a:rPr>
              <a:t>Inspect gaps and sources,</a:t>
            </a:r>
          </a:p>
          <a:p xmlns:a="http://schemas.openxmlformats.org/drawingml/2006/main">
            <a:pPr>
              <a:defRPr sz="1800" b="0">
                <a:solidFill>
                  <a:srgbClr val="132C50"/>
                </a:solidFill>
                <a:latin typeface="Helvetica Neue"/>
                <a:ea typeface="Helvetica Neue"/>
                <a:cs typeface="Helvetica Neue"/>
              </a:defRPr>
            </a:pPr>
            <a:r>
              <a:rPr sz="1800" b="0">
                <a:solidFill>
                  <a:srgbClr val="132C50"/>
                </a:solidFill>
                <a:latin typeface="Helvetica Neue"/>
                <a:ea typeface="Helvetica Neue"/>
                <a:cs typeface="Helvetica Neue"/>
              </a:rPr>
              <a:t>then adapt the output</a:t>
            </a:r>
          </a:p>
        </p:txBody>
      </p:sp>
      <p:cxnSp>
        <p:nvCxnSpPr>
          <p:cNvPr id="61" name=""/>
          <p:cNvCxnSpPr>
            <a:stCxn xmlns:a="http://schemas.openxmlformats.org/drawingml/2006/main" id="20" idx="3"/>
            <a:endCxn xmlns:a="http://schemas.openxmlformats.org/drawingml/2006/main" id="26" idx="1"/>
          </p:cNvCxnSpPr>
          <p:nvPr/>
        </p:nvCxnSpPr>
        <p:spPr>
          <a:xfrm xmlns:a="http://schemas.openxmlformats.org/drawingml/2006/main">
            <a:off x="9201150" y="3295650"/>
            <a:ext cx="247650" cy="0"/>
          </a:xfrm>
          <a:prstGeom xmlns:a="http://schemas.openxmlformats.org/drawingml/2006/main" prst="straightConnector1">
            <a:avLst/>
          </a:prstGeom>
          <a:ln xmlns:a="http://schemas.openxmlformats.org/drawingml/2006/main" w="19050">
            <a:solidFill>
              <a:srgbClr val="1876C9"/>
            </a:solidFill>
            <a:tailEnd type="triangle" w="med" len="med"/>
          </a:ln>
        </p:spPr>
      </p:cxnSp>
      <p:sp>
        <p:nvSpPr>
          <p:cNvPr id="31" name="">
            <a:extLst xmlns:a="http://schemas.openxmlformats.org/drawingml/2006/main">
              <a:ext uri="{FF2B5EF4-FFF2-40B4-BE49-F238E27FC236}">
                <a16:creationId xmlns:a16="http://schemas.microsoft.com/office/drawing/2014/main" id="{2862C7D3-F91F-48B9-8D47-58C298A4BE9A}"/>
              </a:ext>
            </a:extLst>
          </p:cNvPr>
          <p:cNvSpPr>
            <a:spLocks xmlns:a="http://schemas.openxmlformats.org/drawingml/2006/main" noGrp="1"/>
          </p:cNvSpPr>
          <p:nvPr/>
        </p:nvSpPr>
        <p:spPr>
          <a:xfrm xmlns:a="http://schemas.openxmlformats.org/drawingml/2006/main">
            <a:off x="609600" y="58864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23881"/>
                </a:solidFill>
                <a:latin typeface="Helvetica Neue"/>
                <a:ea typeface="Helvetica Neue"/>
                <a:cs typeface="Helvetica Neue"/>
              </a:defRPr>
            </a:pPr>
            <a:r>
              <a:rPr sz="2100" b="1">
                <a:solidFill>
                  <a:srgbClr val="123881"/>
                </a:solidFill>
                <a:latin typeface="Helvetica Neue"/>
                <a:ea typeface="Helvetica Neue"/>
                <a:cs typeface="Helvetica Neue"/>
              </a:rPr>
              <a:t>The same evidence supports meeting preparation or personalized outreach.</a:t>
            </a:r>
          </a:p>
        </p:txBody>
      </p:sp>
    </p:spTree>
    <p:extLst>
      <p:ext uri="{BB962C8B-B14F-4D97-AF65-F5344CB8AC3E}">
        <p14:creationId xmlns:p14="http://schemas.microsoft.com/office/powerpoint/2010/main" val="181439689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028848D-5AE0-4D7C-AA6E-E3FA2E4D389C}"/>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23881"/>
                </a:solidFill>
                <a:latin typeface="Helvetica Neue"/>
                <a:ea typeface="Helvetica Neue"/>
                <a:cs typeface="Helvetica Neue"/>
              </a:defRPr>
            </a:pPr>
            <a:r>
              <a:rPr sz="3525" b="1">
                <a:solidFill>
                  <a:srgbClr val="123881"/>
                </a:solidFill>
                <a:latin typeface="Helvetica Neue"/>
                <a:ea typeface="Helvetica Neue"/>
                <a:cs typeface="Helvetica Neue"/>
              </a:rPr>
              <a:t>InsightIQ architecture</a:t>
            </a:r>
          </a:p>
        </p:txBody>
      </p:sp>
      <p:sp>
        <p:nvSpPr>
          <p:cNvPr id="2" name="">
            <a:extLst xmlns:a="http://schemas.openxmlformats.org/drawingml/2006/main">
              <a:ext uri="{FF2B5EF4-FFF2-40B4-BE49-F238E27FC236}">
                <a16:creationId xmlns:a16="http://schemas.microsoft.com/office/drawing/2014/main" id="{2C1AED8E-0DFC-4B6B-BCFF-DFC7FBD77277}"/>
              </a:ext>
            </a:extLst>
          </p:cNvPr>
          <p:cNvSpPr>
            <a:spLocks xmlns:a="http://schemas.openxmlformats.org/drawingml/2006/main" noGrp="1"/>
          </p:cNvSpPr>
          <p:nvPr/>
        </p:nvSpPr>
        <p:spPr>
          <a:xfrm xmlns:a="http://schemas.openxmlformats.org/drawingml/2006/main">
            <a:off x="609600" y="13811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780"/>
                </a:solidFill>
                <a:latin typeface="Helvetica Neue"/>
                <a:ea typeface="Helvetica Neue"/>
                <a:cs typeface="Helvetica Neue"/>
              </a:defRPr>
            </a:pPr>
            <a:r>
              <a:rPr sz="2025" b="0">
                <a:solidFill>
                  <a:srgbClr val="536780"/>
                </a:solidFill>
                <a:latin typeface="Helvetica Neue"/>
                <a:ea typeface="Helvetica Neue"/>
                <a:cs typeface="Helvetica Neue"/>
              </a:rPr>
              <a:t>The interactive app and research worker share one source of stored evidence.</a:t>
            </a:r>
          </a:p>
        </p:txBody>
      </p:sp>
      <p:sp>
        <p:nvSpPr>
          <p:cNvPr id="3" name="A">
            <a:extLst xmlns:a="http://schemas.openxmlformats.org/drawingml/2006/main">
              <a:ext uri="{FF2B5EF4-FFF2-40B4-BE49-F238E27FC236}">
                <a16:creationId xmlns:a16="http://schemas.microsoft.com/office/drawing/2014/main" id="{0F5D62DC-5D83-4140-ABA9-C9C3303DEC09}"/>
              </a:ext>
            </a:extLst>
          </p:cNvPr>
          <p:cNvSpPr>
            <a:spLocks xmlns:a="http://schemas.openxmlformats.org/drawingml/2006/main" noGrp="1"/>
          </p:cNvSpPr>
          <p:nvPr/>
        </p:nvSpPr>
        <p:spPr>
          <a:xfrm xmlns:a="http://schemas.openxmlformats.org/drawingml/2006/main">
            <a:off x="571500" y="2343150"/>
            <a:ext cx="2286000" cy="1200150"/>
          </a:xfrm>
          <a:prstGeom xmlns:a="http://schemas.openxmlformats.org/drawingml/2006/main" prst="rect">
            <a:avLst/>
          </a:prstGeom>
          <a:solidFill xmlns:a="http://schemas.openxmlformats.org/drawingml/2006/main">
            <a:srgbClr val="F2F7FE"/>
          </a:solidFill>
          <a:ln xmlns:a="http://schemas.openxmlformats.org/drawingml/2006/main" w="15240">
            <a:solidFill>
              <a:srgbClr val="1876C9"/>
            </a:solidFill>
          </a:ln>
        </p:spPr>
      </p:sp>
      <p:sp>
        <p:nvSpPr>
          <p:cNvPr id="4" name="">
            <a:extLst xmlns:a="http://schemas.openxmlformats.org/drawingml/2006/main">
              <a:ext uri="{FF2B5EF4-FFF2-40B4-BE49-F238E27FC236}">
                <a16:creationId xmlns:a16="http://schemas.microsoft.com/office/drawing/2014/main" id="{0E41D750-04CE-4B8C-AC88-02B2C5D15ED8}"/>
              </a:ext>
            </a:extLst>
          </p:cNvPr>
          <p:cNvSpPr>
            <a:spLocks xmlns:a="http://schemas.openxmlformats.org/drawingml/2006/main" noGrp="1"/>
          </p:cNvSpPr>
          <p:nvPr/>
        </p:nvSpPr>
        <p:spPr>
          <a:xfrm xmlns:a="http://schemas.openxmlformats.org/drawingml/2006/main">
            <a:off x="666750" y="2505075"/>
            <a:ext cx="2095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Web dashboard</a:t>
            </a:r>
          </a:p>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Next.js</a:t>
            </a:r>
          </a:p>
        </p:txBody>
      </p:sp>
      <p:sp>
        <p:nvSpPr>
          <p:cNvPr id="5" name="B">
            <a:extLst xmlns:a="http://schemas.openxmlformats.org/drawingml/2006/main">
              <a:ext uri="{FF2B5EF4-FFF2-40B4-BE49-F238E27FC236}">
                <a16:creationId xmlns:a16="http://schemas.microsoft.com/office/drawing/2014/main" id="{8521E8BA-A383-4ED2-A451-0551806F446A}"/>
              </a:ext>
            </a:extLst>
          </p:cNvPr>
          <p:cNvSpPr>
            <a:spLocks xmlns:a="http://schemas.openxmlformats.org/drawingml/2006/main" noGrp="1"/>
          </p:cNvSpPr>
          <p:nvPr/>
        </p:nvSpPr>
        <p:spPr>
          <a:xfrm xmlns:a="http://schemas.openxmlformats.org/drawingml/2006/main">
            <a:off x="3429000" y="2343150"/>
            <a:ext cx="2286000" cy="1200150"/>
          </a:xfrm>
          <a:prstGeom xmlns:a="http://schemas.openxmlformats.org/drawingml/2006/main" prst="rect">
            <a:avLst/>
          </a:prstGeom>
          <a:solidFill xmlns:a="http://schemas.openxmlformats.org/drawingml/2006/main">
            <a:srgbClr val="F2F7FE"/>
          </a:solidFill>
          <a:ln xmlns:a="http://schemas.openxmlformats.org/drawingml/2006/main" w="15240">
            <a:solidFill>
              <a:srgbClr val="1876C9"/>
            </a:solidFill>
          </a:ln>
        </p:spPr>
      </p:sp>
      <p:sp>
        <p:nvSpPr>
          <p:cNvPr id="6" name="">
            <a:extLst xmlns:a="http://schemas.openxmlformats.org/drawingml/2006/main">
              <a:ext uri="{FF2B5EF4-FFF2-40B4-BE49-F238E27FC236}">
                <a16:creationId xmlns:a16="http://schemas.microsoft.com/office/drawing/2014/main" id="{36EDA72D-1C84-4ABF-81EA-55A5EDE4C857}"/>
              </a:ext>
            </a:extLst>
          </p:cNvPr>
          <p:cNvSpPr>
            <a:spLocks xmlns:a="http://schemas.openxmlformats.org/drawingml/2006/main" noGrp="1"/>
          </p:cNvSpPr>
          <p:nvPr/>
        </p:nvSpPr>
        <p:spPr>
          <a:xfrm xmlns:a="http://schemas.openxmlformats.org/drawingml/2006/main">
            <a:off x="3524250" y="2505075"/>
            <a:ext cx="2095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API and accounts</a:t>
            </a:r>
          </a:p>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NestJS</a:t>
            </a:r>
          </a:p>
        </p:txBody>
      </p:sp>
      <p:sp>
        <p:nvSpPr>
          <p:cNvPr id="7" name="C">
            <a:extLst xmlns:a="http://schemas.openxmlformats.org/drawingml/2006/main">
              <a:ext uri="{FF2B5EF4-FFF2-40B4-BE49-F238E27FC236}">
                <a16:creationId xmlns:a16="http://schemas.microsoft.com/office/drawing/2014/main" id="{FA3BA9DA-E54A-42C3-828C-BA31587C9D92}"/>
              </a:ext>
            </a:extLst>
          </p:cNvPr>
          <p:cNvSpPr>
            <a:spLocks xmlns:a="http://schemas.openxmlformats.org/drawingml/2006/main" noGrp="1"/>
          </p:cNvSpPr>
          <p:nvPr/>
        </p:nvSpPr>
        <p:spPr>
          <a:xfrm xmlns:a="http://schemas.openxmlformats.org/drawingml/2006/main">
            <a:off x="6286500" y="2343150"/>
            <a:ext cx="2286000" cy="1200150"/>
          </a:xfrm>
          <a:prstGeom xmlns:a="http://schemas.openxmlformats.org/drawingml/2006/main" prst="rect">
            <a:avLst/>
          </a:prstGeom>
          <a:solidFill xmlns:a="http://schemas.openxmlformats.org/drawingml/2006/main">
            <a:srgbClr val="F2F7FE"/>
          </a:solidFill>
          <a:ln xmlns:a="http://schemas.openxmlformats.org/drawingml/2006/main" w="15240">
            <a:solidFill>
              <a:srgbClr val="1876C9"/>
            </a:solidFill>
          </a:ln>
        </p:spPr>
      </p:sp>
      <p:sp>
        <p:nvSpPr>
          <p:cNvPr id="8" name="">
            <a:extLst xmlns:a="http://schemas.openxmlformats.org/drawingml/2006/main">
              <a:ext uri="{FF2B5EF4-FFF2-40B4-BE49-F238E27FC236}">
                <a16:creationId xmlns:a16="http://schemas.microsoft.com/office/drawing/2014/main" id="{C7AF5A4B-03F4-4E84-8B9D-F826D9BE76D6}"/>
              </a:ext>
            </a:extLst>
          </p:cNvPr>
          <p:cNvSpPr>
            <a:spLocks xmlns:a="http://schemas.openxmlformats.org/drawingml/2006/main" noGrp="1"/>
          </p:cNvSpPr>
          <p:nvPr/>
        </p:nvSpPr>
        <p:spPr>
          <a:xfrm xmlns:a="http://schemas.openxmlformats.org/drawingml/2006/main">
            <a:off x="6381750" y="2505075"/>
            <a:ext cx="2095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Data and job queue</a:t>
            </a:r>
          </a:p>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PostgreSQL</a:t>
            </a:r>
          </a:p>
        </p:txBody>
      </p:sp>
      <p:sp>
        <p:nvSpPr>
          <p:cNvPr id="9" name="D">
            <a:extLst xmlns:a="http://schemas.openxmlformats.org/drawingml/2006/main">
              <a:ext uri="{FF2B5EF4-FFF2-40B4-BE49-F238E27FC236}">
                <a16:creationId xmlns:a16="http://schemas.microsoft.com/office/drawing/2014/main" id="{9AC9F063-6730-408B-8AE6-739559A3ABE2}"/>
              </a:ext>
            </a:extLst>
          </p:cNvPr>
          <p:cNvSpPr>
            <a:spLocks xmlns:a="http://schemas.openxmlformats.org/drawingml/2006/main" noGrp="1"/>
          </p:cNvSpPr>
          <p:nvPr/>
        </p:nvSpPr>
        <p:spPr>
          <a:xfrm xmlns:a="http://schemas.openxmlformats.org/drawingml/2006/main">
            <a:off x="9144000" y="2343150"/>
            <a:ext cx="2286000" cy="1200150"/>
          </a:xfrm>
          <a:prstGeom xmlns:a="http://schemas.openxmlformats.org/drawingml/2006/main" prst="rect">
            <a:avLst/>
          </a:prstGeom>
          <a:solidFill xmlns:a="http://schemas.openxmlformats.org/drawingml/2006/main">
            <a:srgbClr val="F2F7FE"/>
          </a:solidFill>
          <a:ln xmlns:a="http://schemas.openxmlformats.org/drawingml/2006/main" w="15240">
            <a:solidFill>
              <a:srgbClr val="1876C9"/>
            </a:solidFill>
          </a:ln>
        </p:spPr>
      </p:sp>
      <p:sp>
        <p:nvSpPr>
          <p:cNvPr id="10" name="">
            <a:extLst xmlns:a="http://schemas.openxmlformats.org/drawingml/2006/main">
              <a:ext uri="{FF2B5EF4-FFF2-40B4-BE49-F238E27FC236}">
                <a16:creationId xmlns:a16="http://schemas.microsoft.com/office/drawing/2014/main" id="{7BC7D918-1369-4338-9BA9-CA852E4B9D86}"/>
              </a:ext>
            </a:extLst>
          </p:cNvPr>
          <p:cNvSpPr>
            <a:spLocks xmlns:a="http://schemas.openxmlformats.org/drawingml/2006/main" noGrp="1"/>
          </p:cNvSpPr>
          <p:nvPr/>
        </p:nvSpPr>
        <p:spPr>
          <a:xfrm xmlns:a="http://schemas.openxmlformats.org/drawingml/2006/main">
            <a:off x="9239250" y="2505075"/>
            <a:ext cx="2095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Research worker</a:t>
            </a:r>
          </a:p>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Python + LangGraph</a:t>
            </a:r>
          </a:p>
        </p:txBody>
      </p:sp>
      <p:sp>
        <p:nvSpPr>
          <p:cNvPr id="11" name="E">
            <a:extLst xmlns:a="http://schemas.openxmlformats.org/drawingml/2006/main">
              <a:ext uri="{FF2B5EF4-FFF2-40B4-BE49-F238E27FC236}">
                <a16:creationId xmlns:a16="http://schemas.microsoft.com/office/drawing/2014/main" id="{576F9E64-BD82-49BC-B291-970247DE9B27}"/>
              </a:ext>
            </a:extLst>
          </p:cNvPr>
          <p:cNvSpPr>
            <a:spLocks xmlns:a="http://schemas.openxmlformats.org/drawingml/2006/main" noGrp="1"/>
          </p:cNvSpPr>
          <p:nvPr/>
        </p:nvSpPr>
        <p:spPr>
          <a:xfrm xmlns:a="http://schemas.openxmlformats.org/drawingml/2006/main">
            <a:off x="3429000" y="4391025"/>
            <a:ext cx="2286000" cy="1200150"/>
          </a:xfrm>
          <a:prstGeom xmlns:a="http://schemas.openxmlformats.org/drawingml/2006/main" prst="rect">
            <a:avLst/>
          </a:prstGeom>
          <a:solidFill xmlns:a="http://schemas.openxmlformats.org/drawingml/2006/main">
            <a:srgbClr val="F2F7FE"/>
          </a:solidFill>
          <a:ln xmlns:a="http://schemas.openxmlformats.org/drawingml/2006/main" w="15240">
            <a:solidFill>
              <a:srgbClr val="1876C9"/>
            </a:solidFill>
          </a:ln>
        </p:spPr>
      </p:sp>
      <p:sp>
        <p:nvSpPr>
          <p:cNvPr id="12" name="">
            <a:extLst xmlns:a="http://schemas.openxmlformats.org/drawingml/2006/main">
              <a:ext uri="{FF2B5EF4-FFF2-40B4-BE49-F238E27FC236}">
                <a16:creationId xmlns:a16="http://schemas.microsoft.com/office/drawing/2014/main" id="{2BD1CDAD-5597-4AE9-A990-320EE4C0C987}"/>
              </a:ext>
            </a:extLst>
          </p:cNvPr>
          <p:cNvSpPr>
            <a:spLocks xmlns:a="http://schemas.openxmlformats.org/drawingml/2006/main" noGrp="1"/>
          </p:cNvSpPr>
          <p:nvPr/>
        </p:nvSpPr>
        <p:spPr>
          <a:xfrm xmlns:a="http://schemas.openxmlformats.org/drawingml/2006/main">
            <a:off x="3524250" y="4552950"/>
            <a:ext cx="2095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Public discovery</a:t>
            </a:r>
          </a:p>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Tavily</a:t>
            </a:r>
          </a:p>
        </p:txBody>
      </p:sp>
      <p:sp>
        <p:nvSpPr>
          <p:cNvPr id="13" name="F">
            <a:extLst xmlns:a="http://schemas.openxmlformats.org/drawingml/2006/main">
              <a:ext uri="{FF2B5EF4-FFF2-40B4-BE49-F238E27FC236}">
                <a16:creationId xmlns:a16="http://schemas.microsoft.com/office/drawing/2014/main" id="{250132E1-3D42-4CED-9922-A7D81248205E}"/>
              </a:ext>
            </a:extLst>
          </p:cNvPr>
          <p:cNvSpPr>
            <a:spLocks xmlns:a="http://schemas.openxmlformats.org/drawingml/2006/main" noGrp="1"/>
          </p:cNvSpPr>
          <p:nvPr/>
        </p:nvSpPr>
        <p:spPr>
          <a:xfrm xmlns:a="http://schemas.openxmlformats.org/drawingml/2006/main">
            <a:off x="9144000" y="4391025"/>
            <a:ext cx="2286000" cy="1200150"/>
          </a:xfrm>
          <a:prstGeom xmlns:a="http://schemas.openxmlformats.org/drawingml/2006/main" prst="rect">
            <a:avLst/>
          </a:prstGeom>
          <a:solidFill xmlns:a="http://schemas.openxmlformats.org/drawingml/2006/main">
            <a:srgbClr val="F2F7FE"/>
          </a:solidFill>
          <a:ln xmlns:a="http://schemas.openxmlformats.org/drawingml/2006/main" w="15240">
            <a:solidFill>
              <a:srgbClr val="1876C9"/>
            </a:solidFill>
          </a:ln>
        </p:spPr>
      </p:sp>
      <p:sp>
        <p:nvSpPr>
          <p:cNvPr id="14" name="">
            <a:extLst xmlns:a="http://schemas.openxmlformats.org/drawingml/2006/main">
              <a:ext uri="{FF2B5EF4-FFF2-40B4-BE49-F238E27FC236}">
                <a16:creationId xmlns:a16="http://schemas.microsoft.com/office/drawing/2014/main" id="{A3226670-FAC5-4FBE-BE5D-9EF35898BEBF}"/>
              </a:ext>
            </a:extLst>
          </p:cNvPr>
          <p:cNvSpPr>
            <a:spLocks xmlns:a="http://schemas.openxmlformats.org/drawingml/2006/main" noGrp="1"/>
          </p:cNvSpPr>
          <p:nvPr/>
        </p:nvSpPr>
        <p:spPr>
          <a:xfrm xmlns:a="http://schemas.openxmlformats.org/drawingml/2006/main">
            <a:off x="9239250" y="4552950"/>
            <a:ext cx="2095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AI inference</a:t>
            </a:r>
          </a:p>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Qwen</a:t>
            </a:r>
          </a:p>
          <a:p xmlns:a="http://schemas.openxmlformats.org/drawingml/2006/main">
            <a:pPr>
              <a:defRPr sz="1800" b="1">
                <a:solidFill>
                  <a:srgbClr val="123881"/>
                </a:solidFill>
                <a:latin typeface="Helvetica Neue"/>
                <a:ea typeface="Helvetica Neue"/>
                <a:cs typeface="Helvetica Neue"/>
              </a:defRPr>
            </a:pPr>
            <a:r>
              <a:rPr sz="1800" b="1">
                <a:solidFill>
                  <a:srgbClr val="123881"/>
                </a:solidFill>
                <a:latin typeface="Helvetica Neue"/>
                <a:ea typeface="Helvetica Neue"/>
                <a:cs typeface="Helvetica Neue"/>
              </a:rPr>
              <a:t>DashScope</a:t>
            </a:r>
          </a:p>
        </p:txBody>
      </p:sp>
      <p:cxnSp>
        <p:nvCxnSpPr>
          <p:cNvPr id="35" name=""/>
          <p:cNvCxnSpPr>
            <a:stCxn xmlns:a="http://schemas.openxmlformats.org/drawingml/2006/main" id="3" idx="3"/>
            <a:endCxn xmlns:a="http://schemas.openxmlformats.org/drawingml/2006/main" id="5" idx="1"/>
          </p:cNvCxnSpPr>
          <p:nvPr/>
        </p:nvCxnSpPr>
        <p:spPr>
          <a:xfrm xmlns:a="http://schemas.openxmlformats.org/drawingml/2006/main">
            <a:off x="2857500" y="2943225"/>
            <a:ext cx="571500" cy="0"/>
          </a:xfrm>
          <a:prstGeom xmlns:a="http://schemas.openxmlformats.org/drawingml/2006/main" prst="straightConnector1">
            <a:avLst/>
          </a:prstGeom>
          <a:ln xmlns:a="http://schemas.openxmlformats.org/drawingml/2006/main" w="19050">
            <a:solidFill>
              <a:srgbClr val="1876C9"/>
            </a:solidFill>
            <a:headEnd type="triangle" w="med" len="med"/>
            <a:tailEnd type="triangle" w="med" len="med"/>
          </a:ln>
        </p:spPr>
      </p:cxnSp>
      <p:cxnSp>
        <p:nvCxnSpPr>
          <p:cNvPr id="36" name=""/>
          <p:cNvCxnSpPr>
            <a:stCxn xmlns:a="http://schemas.openxmlformats.org/drawingml/2006/main" id="5" idx="3"/>
            <a:endCxn xmlns:a="http://schemas.openxmlformats.org/drawingml/2006/main" id="7" idx="1"/>
          </p:cNvCxnSpPr>
          <p:nvPr/>
        </p:nvCxnSpPr>
        <p:spPr>
          <a:xfrm xmlns:a="http://schemas.openxmlformats.org/drawingml/2006/main">
            <a:off x="5715000" y="2943225"/>
            <a:ext cx="571500" cy="0"/>
          </a:xfrm>
          <a:prstGeom xmlns:a="http://schemas.openxmlformats.org/drawingml/2006/main" prst="straightConnector1">
            <a:avLst/>
          </a:prstGeom>
          <a:ln xmlns:a="http://schemas.openxmlformats.org/drawingml/2006/main" w="19050">
            <a:solidFill>
              <a:srgbClr val="1876C9"/>
            </a:solidFill>
            <a:headEnd type="triangle" w="med" len="med"/>
            <a:tailEnd type="triangle" w="med" len="med"/>
          </a:ln>
        </p:spPr>
      </p:cxnSp>
      <p:cxnSp>
        <p:nvCxnSpPr>
          <p:cNvPr id="37" name=""/>
          <p:cNvCxnSpPr>
            <a:stCxn xmlns:a="http://schemas.openxmlformats.org/drawingml/2006/main" id="7" idx="3"/>
            <a:endCxn xmlns:a="http://schemas.openxmlformats.org/drawingml/2006/main" id="9" idx="1"/>
          </p:cNvCxnSpPr>
          <p:nvPr/>
        </p:nvCxnSpPr>
        <p:spPr>
          <a:xfrm xmlns:a="http://schemas.openxmlformats.org/drawingml/2006/main">
            <a:off x="8572500" y="2943225"/>
            <a:ext cx="571500" cy="0"/>
          </a:xfrm>
          <a:prstGeom xmlns:a="http://schemas.openxmlformats.org/drawingml/2006/main" prst="straightConnector1">
            <a:avLst/>
          </a:prstGeom>
          <a:ln xmlns:a="http://schemas.openxmlformats.org/drawingml/2006/main" w="19050">
            <a:solidFill>
              <a:srgbClr val="1876C9"/>
            </a:solidFill>
            <a:headEnd type="triangle" w="med" len="med"/>
            <a:tailEnd type="triangle" w="med" len="med"/>
          </a:ln>
        </p:spPr>
      </p:cxnSp>
      <p:cxnSp>
        <p:nvCxnSpPr>
          <p:cNvPr id="38" name=""/>
          <p:cNvCxnSpPr>
            <a:stCxn xmlns:a="http://schemas.openxmlformats.org/drawingml/2006/main" id="5" idx="2"/>
            <a:endCxn xmlns:a="http://schemas.openxmlformats.org/drawingml/2006/main" id="11" idx="0"/>
          </p:cNvCxnSpPr>
          <p:nvPr/>
        </p:nvCxnSpPr>
        <p:spPr>
          <a:xfrm xmlns:a="http://schemas.openxmlformats.org/drawingml/2006/main">
            <a:off x="4572000" y="3543300"/>
            <a:ext cx="0" cy="847725"/>
          </a:xfrm>
          <a:prstGeom xmlns:a="http://schemas.openxmlformats.org/drawingml/2006/main" prst="straightConnector1">
            <a:avLst/>
          </a:prstGeom>
          <a:ln xmlns:a="http://schemas.openxmlformats.org/drawingml/2006/main" w="19050">
            <a:solidFill>
              <a:srgbClr val="1876C9"/>
            </a:solidFill>
            <a:headEnd type="triangle" w="med" len="med"/>
            <a:tailEnd type="triangle" w="med" len="med"/>
          </a:ln>
        </p:spPr>
      </p:cxnSp>
      <p:cxnSp>
        <p:nvCxnSpPr>
          <p:cNvPr id="39" name=""/>
          <p:cNvCxnSpPr>
            <a:stCxn xmlns:a="http://schemas.openxmlformats.org/drawingml/2006/main" id="9" idx="2"/>
            <a:endCxn xmlns:a="http://schemas.openxmlformats.org/drawingml/2006/main" id="13" idx="0"/>
          </p:cNvCxnSpPr>
          <p:nvPr/>
        </p:nvCxnSpPr>
        <p:spPr>
          <a:xfrm xmlns:a="http://schemas.openxmlformats.org/drawingml/2006/main">
            <a:off x="10287000" y="3543300"/>
            <a:ext cx="0" cy="847725"/>
          </a:xfrm>
          <a:prstGeom xmlns:a="http://schemas.openxmlformats.org/drawingml/2006/main" prst="straightConnector1">
            <a:avLst/>
          </a:prstGeom>
          <a:ln xmlns:a="http://schemas.openxmlformats.org/drawingml/2006/main" w="19050">
            <a:solidFill>
              <a:srgbClr val="1876C9"/>
            </a:solidFill>
            <a:headEnd type="triangle" w="med" len="med"/>
            <a:tailEnd type="triangle" w="med" len="med"/>
          </a:ln>
        </p:spPr>
      </p:cxnSp>
      <p:sp>
        <p:nvSpPr>
          <p:cNvPr id="20" name="">
            <a:extLst xmlns:a="http://schemas.openxmlformats.org/drawingml/2006/main">
              <a:ext uri="{FF2B5EF4-FFF2-40B4-BE49-F238E27FC236}">
                <a16:creationId xmlns:a16="http://schemas.microsoft.com/office/drawing/2014/main" id="{01F0E181-10E9-47A3-AAF3-DD227D32C305}"/>
              </a:ext>
            </a:extLst>
          </p:cNvPr>
          <p:cNvSpPr>
            <a:spLocks xmlns:a="http://schemas.openxmlformats.org/drawingml/2006/main" noGrp="1"/>
          </p:cNvSpPr>
          <p:nvPr/>
        </p:nvSpPr>
        <p:spPr>
          <a:xfrm xmlns:a="http://schemas.openxmlformats.org/drawingml/2006/main">
            <a:off x="704850" y="59626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2C50"/>
                </a:solidFill>
                <a:latin typeface="Helvetica Neue"/>
                <a:ea typeface="Helvetica Neue"/>
                <a:cs typeface="Helvetica Neue"/>
              </a:defRPr>
            </a:pPr>
            <a:r>
              <a:rPr sz="2025" b="0">
                <a:solidFill>
                  <a:srgbClr val="132C50"/>
                </a:solidFill>
                <a:latin typeface="Helvetica Neue"/>
                <a:ea typeface="Helvetica Neue"/>
                <a:cs typeface="Helvetica Neue"/>
              </a:rPr>
              <a:t>The dashboard stays responsive while the worker researches and saves the brief.</a:t>
            </a:r>
          </a:p>
        </p:txBody>
      </p:sp>
    </p:spTree>
    <p:extLst>
      <p:ext uri="{BB962C8B-B14F-4D97-AF65-F5344CB8AC3E}">
        <p14:creationId xmlns:p14="http://schemas.microsoft.com/office/powerpoint/2010/main" val="163710544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1122B02-EED6-4B96-8123-A5F55B323D25}"/>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23881"/>
                </a:solidFill>
                <a:latin typeface="Helvetica Neue"/>
                <a:ea typeface="Helvetica Neue"/>
                <a:cs typeface="Helvetica Neue"/>
              </a:defRPr>
            </a:pPr>
            <a:r>
              <a:rPr sz="3525" b="1">
                <a:solidFill>
                  <a:srgbClr val="123881"/>
                </a:solidFill>
                <a:latin typeface="Helvetica Neue"/>
                <a:ea typeface="Helvetica Neue"/>
                <a:cs typeface="Helvetica Neue"/>
              </a:rPr>
              <a:t>Your research, in one workspace</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e20edc7c13fd485a"/>
          <a:stretch xmlns:a="http://schemas.openxmlformats.org/drawingml/2006/main"/>
        </p:blipFill>
        <p:spPr>
          <a:xfrm xmlns:a="http://schemas.openxmlformats.org/drawingml/2006/main">
            <a:off x="457200" y="1428750"/>
            <a:ext cx="8153400" cy="50958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4DD7DFA0-5318-42B0-87CC-B919DB17FCDF}"/>
              </a:ext>
            </a:extLst>
          </p:cNvPr>
          <p:cNvSpPr>
            <a:spLocks xmlns:a="http://schemas.openxmlformats.org/drawingml/2006/main" noGrp="1"/>
          </p:cNvSpPr>
          <p:nvPr/>
        </p:nvSpPr>
        <p:spPr>
          <a:xfrm xmlns:a="http://schemas.openxmlformats.org/drawingml/2006/main">
            <a:off x="8953500" y="1876425"/>
            <a:ext cx="266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76C9"/>
                </a:solidFill>
                <a:latin typeface="Helvetica Neue"/>
                <a:ea typeface="Helvetica Neue"/>
                <a:cs typeface="Helvetica Neue"/>
              </a:defRPr>
            </a:pPr>
            <a:r>
              <a:rPr sz="2175" b="1">
                <a:solidFill>
                  <a:srgbClr val="1876C9"/>
                </a:solidFill>
                <a:latin typeface="Helvetica Neue"/>
                <a:ea typeface="Helvetica Neue"/>
                <a:cs typeface="Helvetica Neue"/>
              </a:rPr>
              <a:t>Meeting prep</a:t>
            </a:r>
          </a:p>
        </p:txBody>
      </p:sp>
      <p:sp>
        <p:nvSpPr>
          <p:cNvPr id="4" name="">
            <a:extLst xmlns:a="http://schemas.openxmlformats.org/drawingml/2006/main">
              <a:ext uri="{FF2B5EF4-FFF2-40B4-BE49-F238E27FC236}">
                <a16:creationId xmlns:a16="http://schemas.microsoft.com/office/drawing/2014/main" id="{EBF7F42D-734D-4BE9-B50C-9B6BEF9DC62D}"/>
              </a:ext>
            </a:extLst>
          </p:cNvPr>
          <p:cNvSpPr>
            <a:spLocks xmlns:a="http://schemas.openxmlformats.org/drawingml/2006/main" noGrp="1"/>
          </p:cNvSpPr>
          <p:nvPr/>
        </p:nvSpPr>
        <p:spPr>
          <a:xfrm xmlns:a="http://schemas.openxmlformats.org/drawingml/2006/main">
            <a:off x="8953500" y="2457450"/>
            <a:ext cx="26384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32C50"/>
                </a:solidFill>
                <a:latin typeface="Helvetica Neue"/>
                <a:ea typeface="Helvetica Neue"/>
                <a:cs typeface="Helvetica Neue"/>
              </a:defRPr>
            </a:pPr>
            <a:r>
              <a:rPr sz="1950" b="0">
                <a:solidFill>
                  <a:srgbClr val="132C50"/>
                </a:solidFill>
                <a:latin typeface="Helvetica Neue"/>
                <a:ea typeface="Helvetica Neue"/>
                <a:cs typeface="Helvetica Neue"/>
              </a:rPr>
              <a:t>Talking points, questions, objections, and next steps.</a:t>
            </a:r>
          </a:p>
        </p:txBody>
      </p:sp>
      <p:sp>
        <p:nvSpPr>
          <p:cNvPr id="5" name="">
            <a:extLst xmlns:a="http://schemas.openxmlformats.org/drawingml/2006/main">
              <a:ext uri="{FF2B5EF4-FFF2-40B4-BE49-F238E27FC236}">
                <a16:creationId xmlns:a16="http://schemas.microsoft.com/office/drawing/2014/main" id="{3ADB2705-8AB5-4A71-9047-5C35185641DA}"/>
              </a:ext>
            </a:extLst>
          </p:cNvPr>
          <p:cNvSpPr>
            <a:spLocks xmlns:a="http://schemas.openxmlformats.org/drawingml/2006/main" noGrp="1"/>
          </p:cNvSpPr>
          <p:nvPr/>
        </p:nvSpPr>
        <p:spPr>
          <a:xfrm xmlns:a="http://schemas.openxmlformats.org/drawingml/2006/main">
            <a:off x="8953500" y="4114800"/>
            <a:ext cx="266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76C9"/>
                </a:solidFill>
                <a:latin typeface="Helvetica Neue"/>
                <a:ea typeface="Helvetica Neue"/>
                <a:cs typeface="Helvetica Neue"/>
              </a:defRPr>
            </a:pPr>
            <a:r>
              <a:rPr sz="2175" b="1">
                <a:solidFill>
                  <a:srgbClr val="1876C9"/>
                </a:solidFill>
                <a:latin typeface="Helvetica Neue"/>
                <a:ea typeface="Helvetica Neue"/>
                <a:cs typeface="Helvetica Neue"/>
              </a:rPr>
              <a:t>Outreach</a:t>
            </a:r>
          </a:p>
        </p:txBody>
      </p:sp>
      <p:sp>
        <p:nvSpPr>
          <p:cNvPr id="6" name="">
            <a:extLst xmlns:a="http://schemas.openxmlformats.org/drawingml/2006/main">
              <a:ext uri="{FF2B5EF4-FFF2-40B4-BE49-F238E27FC236}">
                <a16:creationId xmlns:a16="http://schemas.microsoft.com/office/drawing/2014/main" id="{547DD671-A40C-42BA-B296-72BFB2187EFA}"/>
              </a:ext>
            </a:extLst>
          </p:cNvPr>
          <p:cNvSpPr>
            <a:spLocks xmlns:a="http://schemas.openxmlformats.org/drawingml/2006/main" noGrp="1"/>
          </p:cNvSpPr>
          <p:nvPr/>
        </p:nvSpPr>
        <p:spPr>
          <a:xfrm xmlns:a="http://schemas.openxmlformats.org/drawingml/2006/main">
            <a:off x="8953500" y="4695825"/>
            <a:ext cx="26384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32C50"/>
                </a:solidFill>
                <a:latin typeface="Helvetica Neue"/>
                <a:ea typeface="Helvetica Neue"/>
                <a:cs typeface="Helvetica Neue"/>
              </a:defRPr>
            </a:pPr>
            <a:r>
              <a:rPr sz="1950" b="0">
                <a:solidFill>
                  <a:srgbClr val="132C50"/>
                </a:solidFill>
                <a:latin typeface="Helvetica Neue"/>
                <a:ea typeface="Helvetica Neue"/>
                <a:cs typeface="Helvetica Neue"/>
              </a:rPr>
              <a:t>Personalized drafts shaped around your offer.</a:t>
            </a:r>
          </a:p>
        </p:txBody>
      </p:sp>
    </p:spTree>
    <p:extLst>
      <p:ext uri="{BB962C8B-B14F-4D97-AF65-F5344CB8AC3E}">
        <p14:creationId xmlns:p14="http://schemas.microsoft.com/office/powerpoint/2010/main" val="10011114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2A308EB-2F2C-4D3F-9D7D-D3E0E1E9E5F0}"/>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23881"/>
                </a:solidFill>
                <a:latin typeface="Helvetica Neue"/>
                <a:ea typeface="Helvetica Neue"/>
                <a:cs typeface="Helvetica Neue"/>
              </a:defRPr>
            </a:pPr>
            <a:r>
              <a:rPr sz="3525" b="1">
                <a:solidFill>
                  <a:srgbClr val="123881"/>
                </a:solidFill>
                <a:latin typeface="Helvetica Neue"/>
                <a:ea typeface="Helvetica Neue"/>
                <a:cs typeface="Helvetica Neue"/>
              </a:rPr>
              <a:t>A brief shaped around what you sell</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95538a4c0b245b7"/>
          <a:stretch xmlns:a="http://schemas.openxmlformats.org/drawingml/2006/main"/>
        </p:blipFill>
        <p:spPr>
          <a:xfrm xmlns:a="http://schemas.openxmlformats.org/drawingml/2006/main">
            <a:off x="458916" y="1428750"/>
            <a:ext cx="8149968" cy="50958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C197D8F-793A-473D-985E-A489EE04E81B}"/>
              </a:ext>
            </a:extLst>
          </p:cNvPr>
          <p:cNvSpPr>
            <a:spLocks xmlns:a="http://schemas.openxmlformats.org/drawingml/2006/main" noGrp="1"/>
          </p:cNvSpPr>
          <p:nvPr/>
        </p:nvSpPr>
        <p:spPr>
          <a:xfrm xmlns:a="http://schemas.openxmlformats.org/drawingml/2006/main">
            <a:off x="8953500" y="1876425"/>
            <a:ext cx="26384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76C9"/>
                </a:solidFill>
                <a:latin typeface="Helvetica Neue"/>
                <a:ea typeface="Helvetica Neue"/>
                <a:cs typeface="Helvetica Neue"/>
              </a:defRPr>
            </a:pPr>
            <a:r>
              <a:rPr sz="2175" b="1">
                <a:solidFill>
                  <a:srgbClr val="1876C9"/>
                </a:solidFill>
                <a:latin typeface="Helvetica Neue"/>
                <a:ea typeface="Helvetica Neue"/>
                <a:cs typeface="Helvetica Neue"/>
              </a:rPr>
              <a:t>Prepare with context</a:t>
            </a:r>
          </a:p>
        </p:txBody>
      </p:sp>
      <p:sp>
        <p:nvSpPr>
          <p:cNvPr id="4" name="">
            <a:extLst xmlns:a="http://schemas.openxmlformats.org/drawingml/2006/main">
              <a:ext uri="{FF2B5EF4-FFF2-40B4-BE49-F238E27FC236}">
                <a16:creationId xmlns:a16="http://schemas.microsoft.com/office/drawing/2014/main" id="{E987623F-01F8-4C0A-A254-36104843BB8A}"/>
              </a:ext>
            </a:extLst>
          </p:cNvPr>
          <p:cNvSpPr>
            <a:spLocks xmlns:a="http://schemas.openxmlformats.org/drawingml/2006/main" noGrp="1"/>
          </p:cNvSpPr>
          <p:nvPr/>
        </p:nvSpPr>
        <p:spPr>
          <a:xfrm xmlns:a="http://schemas.openxmlformats.org/drawingml/2006/main">
            <a:off x="8953500" y="3067050"/>
            <a:ext cx="26384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32C50"/>
                </a:solidFill>
                <a:latin typeface="Helvetica Neue"/>
                <a:ea typeface="Helvetica Neue"/>
                <a:cs typeface="Helvetica Neue"/>
              </a:defRPr>
            </a:pPr>
            <a:r>
              <a:rPr sz="1950" b="0">
                <a:solidFill>
                  <a:srgbClr val="132C50"/>
                </a:solidFill>
                <a:latin typeface="Helvetica Neue"/>
                <a:ea typeface="Helvetica Neue"/>
                <a:cs typeface="Helvetica Neue"/>
              </a:rPr>
              <a:t>Use the opener and talking points as a starting point. Follow the source links.</a:t>
            </a:r>
          </a:p>
        </p:txBody>
      </p:sp>
      <p:sp>
        <p:nvSpPr>
          <p:cNvPr id="5" name="">
            <a:extLst xmlns:a="http://schemas.openxmlformats.org/drawingml/2006/main">
              <a:ext uri="{FF2B5EF4-FFF2-40B4-BE49-F238E27FC236}">
                <a16:creationId xmlns:a16="http://schemas.microsoft.com/office/drawing/2014/main" id="{85C77FC1-7FBC-4CB9-935B-6E411A3B7D1C}"/>
              </a:ext>
            </a:extLst>
          </p:cNvPr>
          <p:cNvSpPr>
            <a:spLocks xmlns:a="http://schemas.openxmlformats.org/drawingml/2006/main" noGrp="1"/>
          </p:cNvSpPr>
          <p:nvPr/>
        </p:nvSpPr>
        <p:spPr>
          <a:xfrm xmlns:a="http://schemas.openxmlformats.org/drawingml/2006/main">
            <a:off x="8953500" y="5076825"/>
            <a:ext cx="26384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780"/>
                </a:solidFill>
                <a:latin typeface="Helvetica Neue"/>
                <a:ea typeface="Helvetica Neue"/>
                <a:cs typeface="Helvetica Neue"/>
              </a:defRPr>
            </a:pPr>
            <a:r>
              <a:rPr sz="1725" b="0">
                <a:solidFill>
                  <a:srgbClr val="536780"/>
                </a:solidFill>
                <a:latin typeface="Helvetica Neue"/>
                <a:ea typeface="Helvetica Neue"/>
                <a:cs typeface="Helvetica Neue"/>
              </a:rPr>
              <a:t>AI-generated demo. Human review required.</a:t>
            </a:r>
          </a:p>
        </p:txBody>
      </p:sp>
    </p:spTree>
    <p:extLst>
      <p:ext uri="{BB962C8B-B14F-4D97-AF65-F5344CB8AC3E}">
        <p14:creationId xmlns:p14="http://schemas.microsoft.com/office/powerpoint/2010/main" val="162032677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6A29B4-91AE-4CED-9A5B-9A7EAEA77BAC}"/>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23881"/>
                </a:solidFill>
                <a:latin typeface="Helvetica Neue"/>
                <a:ea typeface="Helvetica Neue"/>
                <a:cs typeface="Helvetica Neue"/>
              </a:defRPr>
            </a:pPr>
            <a:r>
              <a:rPr sz="3525" b="1">
                <a:solidFill>
                  <a:srgbClr val="123881"/>
                </a:solidFill>
                <a:latin typeface="Helvetica Neue"/>
                <a:ea typeface="Helvetica Neue"/>
                <a:cs typeface="Helvetica Neue"/>
              </a:rPr>
              <a:t>Evidence you can inspect</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4feb6bd251af49d3"/>
          <a:stretch xmlns:a="http://schemas.openxmlformats.org/drawingml/2006/main"/>
        </p:blipFill>
        <p:spPr>
          <a:xfrm xmlns:a="http://schemas.openxmlformats.org/drawingml/2006/main">
            <a:off x="458916" y="1428750"/>
            <a:ext cx="8149968" cy="50958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8BF9294E-426E-4322-B0C9-6DF66DED3BF3}"/>
              </a:ext>
            </a:extLst>
          </p:cNvPr>
          <p:cNvSpPr>
            <a:spLocks xmlns:a="http://schemas.openxmlformats.org/drawingml/2006/main" noGrp="1"/>
          </p:cNvSpPr>
          <p:nvPr/>
        </p:nvSpPr>
        <p:spPr>
          <a:xfrm xmlns:a="http://schemas.openxmlformats.org/drawingml/2006/main">
            <a:off x="8953500" y="1876425"/>
            <a:ext cx="266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76C9"/>
                </a:solidFill>
                <a:latin typeface="Helvetica Neue"/>
                <a:ea typeface="Helvetica Neue"/>
                <a:cs typeface="Helvetica Neue"/>
              </a:defRPr>
            </a:pPr>
            <a:r>
              <a:rPr sz="2175" b="1">
                <a:solidFill>
                  <a:srgbClr val="1876C9"/>
                </a:solidFill>
                <a:latin typeface="Helvetica Neue"/>
                <a:ea typeface="Helvetica Neue"/>
                <a:cs typeface="Helvetica Neue"/>
              </a:rPr>
              <a:t>Trace the claim</a:t>
            </a:r>
          </a:p>
        </p:txBody>
      </p:sp>
      <p:sp>
        <p:nvSpPr>
          <p:cNvPr id="4" name="">
            <a:extLst xmlns:a="http://schemas.openxmlformats.org/drawingml/2006/main">
              <a:ext uri="{FF2B5EF4-FFF2-40B4-BE49-F238E27FC236}">
                <a16:creationId xmlns:a16="http://schemas.microsoft.com/office/drawing/2014/main" id="{669D6F59-AC1F-43D1-95C7-E4D34864B481}"/>
              </a:ext>
            </a:extLst>
          </p:cNvPr>
          <p:cNvSpPr>
            <a:spLocks xmlns:a="http://schemas.openxmlformats.org/drawingml/2006/main" noGrp="1"/>
          </p:cNvSpPr>
          <p:nvPr/>
        </p:nvSpPr>
        <p:spPr>
          <a:xfrm xmlns:a="http://schemas.openxmlformats.org/drawingml/2006/main">
            <a:off x="8953500" y="2457450"/>
            <a:ext cx="2638425"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32C50"/>
                </a:solidFill>
                <a:latin typeface="Helvetica Neue"/>
                <a:ea typeface="Helvetica Neue"/>
                <a:cs typeface="Helvetica Neue"/>
              </a:defRPr>
            </a:pPr>
            <a:r>
              <a:rPr sz="1950" b="0">
                <a:solidFill>
                  <a:srgbClr val="132C50"/>
                </a:solidFill>
                <a:latin typeface="Helvetica Neue"/>
                <a:ea typeface="Helvetica Neue"/>
                <a:cs typeface="Helvetica Neue"/>
              </a:rPr>
              <a:t>Each key signal must match its stored evidence record and source URL.</a:t>
            </a:r>
          </a:p>
        </p:txBody>
      </p:sp>
      <p:sp>
        <p:nvSpPr>
          <p:cNvPr id="5" name="">
            <a:extLst xmlns:a="http://schemas.openxmlformats.org/drawingml/2006/main">
              <a:ext uri="{FF2B5EF4-FFF2-40B4-BE49-F238E27FC236}">
                <a16:creationId xmlns:a16="http://schemas.microsoft.com/office/drawing/2014/main" id="{07CAE670-27B8-424B-B1C3-6B13068E9B9D}"/>
              </a:ext>
            </a:extLst>
          </p:cNvPr>
          <p:cNvSpPr>
            <a:spLocks xmlns:a="http://schemas.openxmlformats.org/drawingml/2006/main" noGrp="1"/>
          </p:cNvSpPr>
          <p:nvPr/>
        </p:nvSpPr>
        <p:spPr>
          <a:xfrm xmlns:a="http://schemas.openxmlformats.org/drawingml/2006/main">
            <a:off x="8953500" y="4371975"/>
            <a:ext cx="266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76C9"/>
                </a:solidFill>
                <a:latin typeface="Helvetica Neue"/>
                <a:ea typeface="Helvetica Neue"/>
                <a:cs typeface="Helvetica Neue"/>
              </a:defRPr>
            </a:pPr>
            <a:r>
              <a:rPr sz="2175" b="1">
                <a:solidFill>
                  <a:srgbClr val="1876C9"/>
                </a:solidFill>
                <a:latin typeface="Helvetica Neue"/>
                <a:ea typeface="Helvetica Neue"/>
                <a:cs typeface="Helvetica Neue"/>
              </a:rPr>
              <a:t>Review the gaps</a:t>
            </a:r>
          </a:p>
        </p:txBody>
      </p:sp>
      <p:sp>
        <p:nvSpPr>
          <p:cNvPr id="6" name="">
            <a:extLst xmlns:a="http://schemas.openxmlformats.org/drawingml/2006/main">
              <a:ext uri="{FF2B5EF4-FFF2-40B4-BE49-F238E27FC236}">
                <a16:creationId xmlns:a16="http://schemas.microsoft.com/office/drawing/2014/main" id="{935D58A1-49A1-48F5-A676-BC709767F81E}"/>
              </a:ext>
            </a:extLst>
          </p:cNvPr>
          <p:cNvSpPr>
            <a:spLocks xmlns:a="http://schemas.openxmlformats.org/drawingml/2006/main" noGrp="1"/>
          </p:cNvSpPr>
          <p:nvPr/>
        </p:nvSpPr>
        <p:spPr>
          <a:xfrm xmlns:a="http://schemas.openxmlformats.org/drawingml/2006/main">
            <a:off x="8953500" y="4953000"/>
            <a:ext cx="26384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32C50"/>
                </a:solidFill>
                <a:latin typeface="Helvetica Neue"/>
                <a:ea typeface="Helvetica Neue"/>
                <a:cs typeface="Helvetica Neue"/>
              </a:defRPr>
            </a:pPr>
            <a:r>
              <a:rPr sz="1950" b="0">
                <a:solidFill>
                  <a:srgbClr val="132C50"/>
                </a:solidFill>
                <a:latin typeface="Helvetica Neue"/>
                <a:ea typeface="Helvetica Neue"/>
                <a:cs typeface="Helvetica Neue"/>
              </a:rPr>
              <a:t>Citations make claims traceable. They do not guarantee accuracy.</a:t>
            </a:r>
          </a:p>
        </p:txBody>
      </p:sp>
    </p:spTree>
    <p:extLst>
      <p:ext uri="{BB962C8B-B14F-4D97-AF65-F5344CB8AC3E}">
        <p14:creationId xmlns:p14="http://schemas.microsoft.com/office/powerpoint/2010/main" val="194327508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7C5D8ED-8029-4EE9-839D-4484EE070C26}"/>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23881"/>
                </a:solidFill>
                <a:latin typeface="Helvetica Neue"/>
                <a:ea typeface="Helvetica Neue"/>
                <a:cs typeface="Helvetica Neue"/>
              </a:defRPr>
            </a:pPr>
            <a:r>
              <a:rPr sz="3525" b="1">
                <a:solidFill>
                  <a:srgbClr val="123881"/>
                </a:solidFill>
                <a:latin typeface="Helvetica Neue"/>
                <a:ea typeface="Helvetica Neue"/>
                <a:cs typeface="Helvetica Neue"/>
              </a:rPr>
              <a:t>What we built</a:t>
            </a:r>
          </a:p>
        </p:txBody>
      </p:sp>
      <p:sp>
        <p:nvSpPr>
          <p:cNvPr id="2" name="">
            <a:extLst xmlns:a="http://schemas.openxmlformats.org/drawingml/2006/main">
              <a:ext uri="{FF2B5EF4-FFF2-40B4-BE49-F238E27FC236}">
                <a16:creationId xmlns:a16="http://schemas.microsoft.com/office/drawing/2014/main" id="{66CC0316-0BD5-4B3D-B2EB-A9D4DAC3A59E}"/>
              </a:ext>
            </a:extLst>
          </p:cNvPr>
          <p:cNvSpPr>
            <a:spLocks xmlns:a="http://schemas.openxmlformats.org/drawingml/2006/main" noGrp="1"/>
          </p:cNvSpPr>
          <p:nvPr/>
        </p:nvSpPr>
        <p:spPr>
          <a:xfrm xmlns:a="http://schemas.openxmlformats.org/drawingml/2006/main">
            <a:off x="704850" y="1666875"/>
            <a:ext cx="466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876C9"/>
                </a:solidFill>
                <a:latin typeface="Helvetica Neue"/>
                <a:ea typeface="Helvetica Neue"/>
                <a:cs typeface="Helvetica Neue"/>
              </a:defRPr>
            </a:pPr>
            <a:r>
              <a:rPr sz="2250" b="1">
                <a:solidFill>
                  <a:srgbClr val="1876C9"/>
                </a:solidFill>
                <a:latin typeface="Helvetica Neue"/>
                <a:ea typeface="Helvetica Neue"/>
                <a:cs typeface="Helvetica Neue"/>
              </a:rPr>
              <a:t>A complete research workflow</a:t>
            </a:r>
          </a:p>
        </p:txBody>
      </p:sp>
      <p:sp>
        <p:nvSpPr>
          <p:cNvPr id="3" name="">
            <a:extLst xmlns:a="http://schemas.openxmlformats.org/drawingml/2006/main">
              <a:ext uri="{FF2B5EF4-FFF2-40B4-BE49-F238E27FC236}">
                <a16:creationId xmlns:a16="http://schemas.microsoft.com/office/drawing/2014/main" id="{F374D466-E5F7-49E0-8717-805DC4EC21F6}"/>
              </a:ext>
            </a:extLst>
          </p:cNvPr>
          <p:cNvSpPr>
            <a:spLocks xmlns:a="http://schemas.openxmlformats.org/drawingml/2006/main" noGrp="1"/>
          </p:cNvSpPr>
          <p:nvPr/>
        </p:nvSpPr>
        <p:spPr>
          <a:xfrm xmlns:a="http://schemas.openxmlformats.org/drawingml/2006/main">
            <a:off x="704850" y="2305050"/>
            <a:ext cx="581025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32C50"/>
                </a:solidFill>
                <a:latin typeface="Helvetica Neue"/>
                <a:ea typeface="Helvetica Neue"/>
                <a:cs typeface="Helvetica Neue"/>
              </a:defRPr>
            </a:pPr>
            <a:r>
              <a:rPr sz="2175" b="0">
                <a:solidFill>
                  <a:srgbClr val="132C50"/>
                </a:solidFill>
                <a:latin typeface="Helvetica Neue"/>
                <a:ea typeface="Helvetica Neue"/>
                <a:cs typeface="Helvetica Neue"/>
              </a:rPr>
              <a:t>Shared workspaces and live research</a:t>
            </a:r>
          </a:p>
          <a:p xmlns:a="http://schemas.openxmlformats.org/drawingml/2006/main">
            <a:pPr>
              <a:defRPr sz="2175" b="0">
                <a:solidFill>
                  <a:srgbClr val="132C50"/>
                </a:solidFill>
                <a:latin typeface="Helvetica Neue"/>
                <a:ea typeface="Helvetica Neue"/>
                <a:cs typeface="Helvetica Neue"/>
              </a:defRPr>
            </a:pPr>
            <a:r>
              <a:rPr sz="2175" b="0">
                <a:solidFill>
                  <a:srgbClr val="132C50"/>
                </a:solidFill>
                <a:latin typeface="Helvetica Neue"/>
                <a:ea typeface="Helvetica Neue"/>
                <a:cs typeface="Helvetica Neue"/>
              </a:rPr>
              <a:t>Evidence library and saved briefs</a:t>
            </a:r>
          </a:p>
          <a:p xmlns:a="http://schemas.openxmlformats.org/drawingml/2006/main">
            <a:pPr>
              <a:defRPr sz="2175" b="0">
                <a:solidFill>
                  <a:srgbClr val="132C50"/>
                </a:solidFill>
                <a:latin typeface="Helvetica Neue"/>
                <a:ea typeface="Helvetica Neue"/>
                <a:cs typeface="Helvetica Neue"/>
              </a:defRPr>
            </a:pPr>
            <a:r>
              <a:rPr sz="2175" b="0">
                <a:solidFill>
                  <a:srgbClr val="132C50"/>
                </a:solidFill>
                <a:latin typeface="Helvetica Neue"/>
                <a:ea typeface="Helvetica Neue"/>
                <a:cs typeface="Helvetica Neue"/>
              </a:rPr>
              <a:t>Refresh comparisons and exports</a:t>
            </a:r>
          </a:p>
        </p:txBody>
      </p:sp>
      <p:sp>
        <p:nvSpPr>
          <p:cNvPr id="4" name="">
            <a:extLst xmlns:a="http://schemas.openxmlformats.org/drawingml/2006/main">
              <a:ext uri="{FF2B5EF4-FFF2-40B4-BE49-F238E27FC236}">
                <a16:creationId xmlns:a16="http://schemas.microsoft.com/office/drawing/2014/main" id="{C6CADD7C-2FA5-42B0-BE63-9653927D1DCC}"/>
              </a:ext>
            </a:extLst>
          </p:cNvPr>
          <p:cNvSpPr>
            <a:spLocks xmlns:a="http://schemas.openxmlformats.org/drawingml/2006/main" noGrp="1"/>
          </p:cNvSpPr>
          <p:nvPr/>
        </p:nvSpPr>
        <p:spPr>
          <a:xfrm xmlns:a="http://schemas.openxmlformats.org/drawingml/2006/main">
            <a:off x="7048500" y="1666875"/>
            <a:ext cx="452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876C9"/>
                </a:solidFill>
                <a:latin typeface="Helvetica Neue"/>
                <a:ea typeface="Helvetica Neue"/>
                <a:cs typeface="Helvetica Neue"/>
              </a:defRPr>
            </a:pPr>
            <a:r>
              <a:rPr sz="2250" b="1">
                <a:solidFill>
                  <a:srgbClr val="1876C9"/>
                </a:solidFill>
                <a:latin typeface="Helvetica Neue"/>
                <a:ea typeface="Helvetica Neue"/>
                <a:cs typeface="Helvetica Neue"/>
              </a:rPr>
              <a:t>The intended benefit</a:t>
            </a:r>
          </a:p>
        </p:txBody>
      </p:sp>
      <p:sp>
        <p:nvSpPr>
          <p:cNvPr id="5" name="">
            <a:extLst xmlns:a="http://schemas.openxmlformats.org/drawingml/2006/main">
              <a:ext uri="{FF2B5EF4-FFF2-40B4-BE49-F238E27FC236}">
                <a16:creationId xmlns:a16="http://schemas.microsoft.com/office/drawing/2014/main" id="{CBAF8AB8-7DF2-4A90-89B8-539CB5834DAC}"/>
              </a:ext>
            </a:extLst>
          </p:cNvPr>
          <p:cNvSpPr>
            <a:spLocks xmlns:a="http://schemas.openxmlformats.org/drawingml/2006/main" noGrp="1"/>
          </p:cNvSpPr>
          <p:nvPr/>
        </p:nvSpPr>
        <p:spPr>
          <a:xfrm xmlns:a="http://schemas.openxmlformats.org/drawingml/2006/main">
            <a:off x="7048500" y="2305050"/>
            <a:ext cx="443865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32C50"/>
                </a:solidFill>
                <a:latin typeface="Helvetica Neue"/>
                <a:ea typeface="Helvetica Neue"/>
                <a:cs typeface="Helvetica Neue"/>
              </a:defRPr>
            </a:pPr>
            <a:r>
              <a:rPr sz="2175" b="0">
                <a:solidFill>
                  <a:srgbClr val="132C50"/>
                </a:solidFill>
                <a:latin typeface="Helvetica Neue"/>
                <a:ea typeface="Helvetica Neue"/>
                <a:cs typeface="Helvetica Neue"/>
              </a:rPr>
              <a:t>Less scattered preparation.</a:t>
            </a:r>
          </a:p>
          <a:p xmlns:a="http://schemas.openxmlformats.org/drawingml/2006/main">
            <a:pPr>
              <a:defRPr sz="2175" b="0">
                <a:solidFill>
                  <a:srgbClr val="132C50"/>
                </a:solidFill>
                <a:latin typeface="Helvetica Neue"/>
                <a:ea typeface="Helvetica Neue"/>
                <a:cs typeface="Helvetica Neue"/>
              </a:defRPr>
            </a:pPr>
            <a:r>
              <a:rPr sz="2175" b="0">
                <a:solidFill>
                  <a:srgbClr val="132C50"/>
                </a:solidFill>
                <a:latin typeface="Helvetica Neue"/>
                <a:ea typeface="Helvetica Neue"/>
                <a:cs typeface="Helvetica Neue"/>
              </a:rPr>
              <a:t>A clearer reason to reach out.</a:t>
            </a:r>
          </a:p>
          <a:p xmlns:a="http://schemas.openxmlformats.org/drawingml/2006/main">
            <a:pPr>
              <a:defRPr sz="2175" b="0">
                <a:solidFill>
                  <a:srgbClr val="132C50"/>
                </a:solidFill>
                <a:latin typeface="Helvetica Neue"/>
                <a:ea typeface="Helvetica Neue"/>
                <a:cs typeface="Helvetica Neue"/>
              </a:defRPr>
            </a:pPr>
            <a:r>
              <a:rPr sz="2175" b="0">
                <a:solidFill>
                  <a:srgbClr val="132C50"/>
                </a:solidFill>
                <a:latin typeface="Helvetica Neue"/>
                <a:ea typeface="Helvetica Neue"/>
                <a:cs typeface="Helvetica Neue"/>
              </a:rPr>
              <a:t>Sources to check before use.</a:t>
            </a:r>
          </a:p>
        </p:txBody>
      </p:sp>
      <p:sp>
        <p:nvSpPr>
          <p:cNvPr id="6" name="">
            <a:extLst xmlns:a="http://schemas.openxmlformats.org/drawingml/2006/main">
              <a:ext uri="{FF2B5EF4-FFF2-40B4-BE49-F238E27FC236}">
                <a16:creationId xmlns:a16="http://schemas.microsoft.com/office/drawing/2014/main" id="{0E43CADF-9249-4618-9F98-BB58A6CA6D3C}"/>
              </a:ext>
            </a:extLst>
          </p:cNvPr>
          <p:cNvSpPr>
            <a:spLocks xmlns:a="http://schemas.openxmlformats.org/drawingml/2006/main" noGrp="1"/>
          </p:cNvSpPr>
          <p:nvPr/>
        </p:nvSpPr>
        <p:spPr>
          <a:xfrm xmlns:a="http://schemas.openxmlformats.org/drawingml/2006/main">
            <a:off x="704850" y="4667250"/>
            <a:ext cx="10791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780"/>
                </a:solidFill>
                <a:latin typeface="Helvetica Neue"/>
                <a:ea typeface="Helvetica Neue"/>
                <a:cs typeface="Helvetica Neue"/>
              </a:defRPr>
            </a:pPr>
            <a:r>
              <a:rPr sz="2100" b="0">
                <a:solidFill>
                  <a:srgbClr val="536780"/>
                </a:solidFill>
                <a:latin typeface="Helvetica Neue"/>
                <a:ea typeface="Helvetica Neue"/>
                <a:cs typeface="Helvetica Neue"/>
              </a:rPr>
              <a:t>Next: broader sources and measured output quality</a:t>
            </a:r>
          </a:p>
        </p:txBody>
      </p:sp>
      <p:sp>
        <p:nvSpPr>
          <p:cNvPr id="7" name="">
            <a:extLst xmlns:a="http://schemas.openxmlformats.org/drawingml/2006/main">
              <a:ext uri="{FF2B5EF4-FFF2-40B4-BE49-F238E27FC236}">
                <a16:creationId xmlns:a16="http://schemas.microsoft.com/office/drawing/2014/main" id="{34D0020A-18FA-4C95-8192-4F6C591FAA53}"/>
              </a:ext>
            </a:extLst>
          </p:cNvPr>
          <p:cNvSpPr>
            <a:spLocks xmlns:a="http://schemas.openxmlformats.org/drawingml/2006/main" noGrp="1"/>
          </p:cNvSpPr>
          <p:nvPr/>
        </p:nvSpPr>
        <p:spPr>
          <a:xfrm xmlns:a="http://schemas.openxmlformats.org/drawingml/2006/main">
            <a:off x="704850" y="578167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123881"/>
                </a:solidFill>
                <a:latin typeface="Helvetica Neue"/>
                <a:ea typeface="Helvetica Neue"/>
                <a:cs typeface="Helvetica Neue"/>
              </a:defRPr>
            </a:pPr>
            <a:r>
              <a:rPr sz="2925" b="1">
                <a:solidFill>
                  <a:srgbClr val="123881"/>
                </a:solidFill>
                <a:latin typeface="Helvetica Neue"/>
                <a:ea typeface="Helvetica Neue"/>
                <a:cs typeface="Helvetica Neue"/>
              </a:rPr>
              <a:t>insightiq.zerotools.online</a:t>
            </a:r>
          </a:p>
        </p:txBody>
      </p:sp>
    </p:spTree>
    <p:extLst>
      <p:ext uri="{BB962C8B-B14F-4D97-AF65-F5344CB8AC3E}">
        <p14:creationId xmlns:p14="http://schemas.microsoft.com/office/powerpoint/2010/main" val="1162840491"/>
      </p:ext>
    </p:extLst>
  </p:cSld>
</p:sld>
</file>

<file path=ppt/slides/slide9.xml><?xml version="1.0" encoding="utf-8"?>
<p:sld xmlns:p="http://schemas.openxmlformats.org/presentationml/2006/main">
  <p:cSld>
    <p:bg>
      <p:bgPr>
        <a:solidFill xmlns:a="http://schemas.openxmlformats.org/drawingml/2006/main">
          <a:srgbClr val="12388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2E86817-BE36-45C6-87C1-DD795E55C5ED}"/>
              </a:ext>
            </a:extLst>
          </p:cNvPr>
          <p:cNvSpPr>
            <a:spLocks xmlns:a="http://schemas.openxmlformats.org/drawingml/2006/main" noGrp="1"/>
          </p:cNvSpPr>
          <p:nvPr/>
        </p:nvSpPr>
        <p:spPr>
          <a:xfrm xmlns:a="http://schemas.openxmlformats.org/drawingml/2006/main">
            <a:off x="609600" y="4572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FFFFFF"/>
                </a:solidFill>
                <a:latin typeface="Helvetica Neue"/>
                <a:ea typeface="Helvetica Neue"/>
                <a:cs typeface="Helvetica Neue"/>
              </a:defRPr>
            </a:pPr>
            <a:r>
              <a:rPr sz="3525" b="1">
                <a:solidFill>
                  <a:srgbClr val="FFFFFF"/>
                </a:solidFill>
                <a:latin typeface="Helvetica Neue"/>
                <a:ea typeface="Helvetica Neue"/>
                <a:cs typeface="Helvetica Neue"/>
              </a:rPr>
              <a:t>Built by three contributors</a:t>
            </a:r>
          </a:p>
        </p:txBody>
      </p:sp>
      <p:sp>
        <p:nvSpPr>
          <p:cNvPr id="2" name="">
            <a:extLst xmlns:a="http://schemas.openxmlformats.org/drawingml/2006/main">
              <a:ext uri="{FF2B5EF4-FFF2-40B4-BE49-F238E27FC236}">
                <a16:creationId xmlns:a16="http://schemas.microsoft.com/office/drawing/2014/main" id="{E3E59D72-3BB2-43B3-9F03-C07A987C3436}"/>
              </a:ext>
            </a:extLst>
          </p:cNvPr>
          <p:cNvSpPr>
            <a:spLocks xmlns:a="http://schemas.openxmlformats.org/drawingml/2006/main" noGrp="1"/>
          </p:cNvSpPr>
          <p:nvPr/>
        </p:nvSpPr>
        <p:spPr>
          <a:xfrm xmlns:a="http://schemas.openxmlformats.org/drawingml/2006/main">
            <a:off x="723900" y="19526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Afnan Ahmad Tariq</a:t>
            </a:r>
          </a:p>
        </p:txBody>
      </p:sp>
      <p:sp>
        <p:nvSpPr>
          <p:cNvPr id="3" name="">
            <a:extLst xmlns:a="http://schemas.openxmlformats.org/drawingml/2006/main">
              <a:ext uri="{FF2B5EF4-FFF2-40B4-BE49-F238E27FC236}">
                <a16:creationId xmlns:a16="http://schemas.microsoft.com/office/drawing/2014/main" id="{BF54F0E9-9455-4456-B3B5-AB8456FCB600}"/>
              </a:ext>
            </a:extLst>
          </p:cNvPr>
          <p:cNvSpPr>
            <a:spLocks xmlns:a="http://schemas.openxmlformats.org/drawingml/2006/main" noGrp="1"/>
          </p:cNvSpPr>
          <p:nvPr/>
        </p:nvSpPr>
        <p:spPr>
          <a:xfrm xmlns:a="http://schemas.openxmlformats.org/drawingml/2006/main">
            <a:off x="723900" y="29527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Danyal Rana</a:t>
            </a:r>
          </a:p>
        </p:txBody>
      </p:sp>
      <p:sp>
        <p:nvSpPr>
          <p:cNvPr id="4" name="">
            <a:extLst xmlns:a="http://schemas.openxmlformats.org/drawingml/2006/main">
              <a:ext uri="{FF2B5EF4-FFF2-40B4-BE49-F238E27FC236}">
                <a16:creationId xmlns:a16="http://schemas.microsoft.com/office/drawing/2014/main" id="{4AAFA330-3F17-427F-88A2-09E62A02E19C}"/>
              </a:ext>
            </a:extLst>
          </p:cNvPr>
          <p:cNvSpPr>
            <a:spLocks xmlns:a="http://schemas.openxmlformats.org/drawingml/2006/main" noGrp="1"/>
          </p:cNvSpPr>
          <p:nvPr/>
        </p:nvSpPr>
        <p:spPr>
          <a:xfrm xmlns:a="http://schemas.openxmlformats.org/drawingml/2006/main">
            <a:off x="723900" y="39528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Hassan</a:t>
            </a:r>
          </a:p>
        </p:txBody>
      </p:sp>
      <p:sp>
        <p:nvSpPr>
          <p:cNvPr id="5" name="">
            <a:extLst xmlns:a="http://schemas.openxmlformats.org/drawingml/2006/main">
              <a:ext uri="{FF2B5EF4-FFF2-40B4-BE49-F238E27FC236}">
                <a16:creationId xmlns:a16="http://schemas.microsoft.com/office/drawing/2014/main" id="{E74D61EA-2571-4889-ADD2-E9127B102A4E}"/>
              </a:ext>
            </a:extLst>
          </p:cNvPr>
          <p:cNvSpPr>
            <a:spLocks xmlns:a="http://schemas.openxmlformats.org/drawingml/2006/main" noGrp="1"/>
          </p:cNvSpPr>
          <p:nvPr/>
        </p:nvSpPr>
        <p:spPr>
          <a:xfrm xmlns:a="http://schemas.openxmlformats.org/drawingml/2006/main">
            <a:off x="723900" y="52959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FFFFFF"/>
                </a:solidFill>
                <a:latin typeface="Helvetica Neue"/>
                <a:ea typeface="Helvetica Neue"/>
                <a:cs typeface="Helvetica Neue"/>
              </a:defRPr>
            </a:pPr>
            <a:r>
              <a:rPr sz="2325" b="1">
                <a:solidFill>
                  <a:srgbClr val="FFFFFF"/>
                </a:solidFill>
                <a:latin typeface="Helvetica Neue"/>
                <a:ea typeface="Helvetica Neue"/>
                <a:cs typeface="Helvetica Neue"/>
              </a:rPr>
              <a:t>Sales conversations grounded in evidence</a:t>
            </a:r>
          </a:p>
        </p:txBody>
      </p:sp>
      <p:sp>
        <p:nvSpPr>
          <p:cNvPr id="6" name="">
            <a:extLst xmlns:a="http://schemas.openxmlformats.org/drawingml/2006/main">
              <a:ext uri="{FF2B5EF4-FFF2-40B4-BE49-F238E27FC236}">
                <a16:creationId xmlns:a16="http://schemas.microsoft.com/office/drawing/2014/main" id="{3D9285B5-F503-4B91-98FC-B2C329C2817A}"/>
              </a:ext>
            </a:extLst>
          </p:cNvPr>
          <p:cNvSpPr>
            <a:spLocks xmlns:a="http://schemas.openxmlformats.org/drawingml/2006/main" noGrp="1"/>
          </p:cNvSpPr>
          <p:nvPr/>
        </p:nvSpPr>
        <p:spPr>
          <a:xfrm xmlns:a="http://schemas.openxmlformats.org/drawingml/2006/main">
            <a:off x="723900" y="60102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FFFFFF"/>
                </a:solidFill>
                <a:latin typeface="Helvetica Neue"/>
                <a:ea typeface="Helvetica Neue"/>
                <a:cs typeface="Helvetica Neue"/>
              </a:defRPr>
            </a:pPr>
            <a:r>
              <a:rPr sz="1950" b="0">
                <a:solidFill>
                  <a:srgbClr val="FFFFFF"/>
                </a:solidFill>
                <a:latin typeface="Helvetica Neue"/>
                <a:ea typeface="Helvetica Neue"/>
                <a:cs typeface="Helvetica Neue"/>
              </a:rPr>
              <a:t>insightiq.zerotools.online</a:t>
            </a:r>
          </a:p>
        </p:txBody>
      </p:sp>
    </p:spTree>
    <p:extLst>
      <p:ext uri="{BB962C8B-B14F-4D97-AF65-F5344CB8AC3E}">
        <p14:creationId xmlns:p14="http://schemas.microsoft.com/office/powerpoint/2010/main" val="7273429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2026-09-07T19:04:55.0820000Z</dcterms:created>
  <dcterms:modified xsi:type="dcterms:W3CDTF">2026-09-07T19:04:55.0820000Z</dcterms:modified>
</coreProperties>
</file>
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46628d9880b4a59" /><Relationship Type="http://schemas.openxmlformats.org/officeDocument/2006/relationships/extended-properties" Target="/docProps/app.xml" Id="R42dc783651f74e76" /><Relationship Type="http://schemas.openxmlformats.org/officeDocument/2006/relationships/officeDocument" Target="/ppt/presentation.xml" Id="R8cfbc1b26dfe45b7" /></Relationships>
</file>

<file path=ppt/presentation.xml><?xml version="1.0" encoding="utf-8"?>
<p:presentation xmlns:p="http://schemas.openxmlformats.org/presentationml/2006/main">
  <p:sldMasterIdLst>
    <p:sldMasterId xmlns:r="http://schemas.openxmlformats.org/officeDocument/2006/relationships" id="2147483648" r:id="Rabc31960788c45a4"/>
  </p:sldMasterIdLst>
  <p:notesMasterIdLst>
    <p:notesMasterId xmlns:r="http://schemas.openxmlformats.org/officeDocument/2006/relationships" r:id="Rcdf1a07cf3f44409"/>
  </p:notesMasterIdLst>
  <p:sldIdLst>
    <p:sldId xmlns:r="http://schemas.openxmlformats.org/officeDocument/2006/relationships" id="256" r:id="Rfb9d16a555fa49c8"/>
    <p:sldId xmlns:r="http://schemas.openxmlformats.org/officeDocument/2006/relationships" id="257" r:id="R2c7550623ba2478a"/>
    <p:sldId xmlns:r="http://schemas.openxmlformats.org/officeDocument/2006/relationships" id="258" r:id="R7ee56db81c2a4bab"/>
    <p:sldId xmlns:r="http://schemas.openxmlformats.org/officeDocument/2006/relationships" id="259" r:id="Rb0b15f849191493f"/>
    <p:sldId xmlns:r="http://schemas.openxmlformats.org/officeDocument/2006/relationships" id="260" r:id="Ra58cacfafc334538"/>
    <p:sldId xmlns:r="http://schemas.openxmlformats.org/officeDocument/2006/relationships" id="261" r:id="R8d2bfeee09e948ec"/>
    <p:sldId xmlns:r="http://schemas.openxmlformats.org/officeDocument/2006/relationships" id="262" r:id="Rbdd51bd1854f48e4"/>
    <p:sldId xmlns:r="http://schemas.openxmlformats.org/officeDocument/2006/relationships" id="263" r:id="R07eb3be6fd4f4e29"/>
    <p:sldId xmlns:r="http://schemas.openxmlformats.org/officeDocument/2006/relationships" id="264" r:id="R885f899616c24649"/>
    <p:sldId xmlns:r="http://schemas.openxmlformats.org/officeDocument/2006/relationships" id="265" r:id="R3718e84a9c1744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ec0979bdf9497e" /><Relationship Type="http://schemas.openxmlformats.org/officeDocument/2006/relationships/slideMaster" Target="/ppt/slideMasters/slideMaster1.xml" Id="Rabc31960788c45a4" /><Relationship Type="http://schemas.openxmlformats.org/officeDocument/2006/relationships/notesMaster" Target="/ppt/notesMasters/notesMaster1.xml" Id="Rcdf1a07cf3f44409" /><Relationship Type="http://schemas.openxmlformats.org/officeDocument/2006/relationships/presProps" Target="/ppt/presProps.xml" Id="R936b9382b3ed4e2b" /><Relationship Type="http://schemas.openxmlformats.org/officeDocument/2006/relationships/tableStyles" Target="/ppt/tableStyles.xml" Id="Rcef305047fba494d" /><Relationship Type="http://schemas.openxmlformats.org/officeDocument/2006/relationships/slide" Target="/ppt/slides/slide1.xml" Id="Rfb9d16a555fa49c8" /><Relationship Type="http://schemas.openxmlformats.org/officeDocument/2006/relationships/slide" Target="/ppt/slides/slide2.xml" Id="R2c7550623ba2478a" /><Relationship Type="http://schemas.openxmlformats.org/officeDocument/2006/relationships/slide" Target="/ppt/slides/slide3.xml" Id="R7ee56db81c2a4bab" /><Relationship Type="http://schemas.openxmlformats.org/officeDocument/2006/relationships/slide" Target="/ppt/slides/slide4.xml" Id="Rb0b15f849191493f" /><Relationship Type="http://schemas.openxmlformats.org/officeDocument/2006/relationships/slide" Target="/ppt/slides/slide5.xml" Id="Ra58cacfafc334538" /><Relationship Type="http://schemas.openxmlformats.org/officeDocument/2006/relationships/slide" Target="/ppt/slides/slide6.xml" Id="R8d2bfeee09e948ec" /><Relationship Type="http://schemas.openxmlformats.org/officeDocument/2006/relationships/slide" Target="/ppt/slides/slide7.xml" Id="Rbdd51bd1854f48e4" /><Relationship Type="http://schemas.openxmlformats.org/officeDocument/2006/relationships/slide" Target="/ppt/slides/slide8.xml" Id="R07eb3be6fd4f4e29" /><Relationship Type="http://schemas.openxmlformats.org/officeDocument/2006/relationships/slide" Target="/ppt/slides/slide9.xml" Id="R885f899616c24649" /><Relationship Type="http://schemas.openxmlformats.org/officeDocument/2006/relationships/slide" Target="/ppt/slides/slide10.xml" Id="R3718e84a9c1744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fba77448a548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45dbbc124c49e8" /><Relationship Type="http://schemas.openxmlformats.org/officeDocument/2006/relationships/notesMaster" Target="/ppt/notesMasters/notesMaster1.xml" Id="R6ee12322228243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e5d7c2861f4576" /><Relationship Type="http://schemas.openxmlformats.org/officeDocument/2006/relationships/notesMaster" Target="/ppt/notesMasters/notesMaster1.xml" Id="Re696c79cdfc749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e6dd11d5e9c4391" /><Relationship Type="http://schemas.openxmlformats.org/officeDocument/2006/relationships/notesMaster" Target="/ppt/notesMasters/notesMaster1.xml" Id="R0772a189bf0c46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8887e1b6be548c7" /><Relationship Type="http://schemas.openxmlformats.org/officeDocument/2006/relationships/notesMaster" Target="/ppt/notesMasters/notesMaster1.xml" Id="R3e7aa736f78346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7d1cccc69a479e" /><Relationship Type="http://schemas.openxmlformats.org/officeDocument/2006/relationships/notesMaster" Target="/ppt/notesMasters/notesMaster1.xml" Id="R5007ebc58782428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d83e0b6973436a" /><Relationship Type="http://schemas.openxmlformats.org/officeDocument/2006/relationships/notesMaster" Target="/ppt/notesMasters/notesMaster1.xml" Id="R5837045c083243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a9e2ecd9034789" /><Relationship Type="http://schemas.openxmlformats.org/officeDocument/2006/relationships/notesMaster" Target="/ppt/notesMasters/notesMaster1.xml" Id="R1906da6e519147a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1b276939404b15" /><Relationship Type="http://schemas.openxmlformats.org/officeDocument/2006/relationships/notesMaster" Target="/ppt/notesMasters/notesMaster1.xml" Id="Rab8f61bcf2274d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0afcc27178840f8" /><Relationship Type="http://schemas.openxmlformats.org/officeDocument/2006/relationships/notesMaster" Target="/ppt/notesMasters/notesMaster1.xml" Id="Rb81388f1e2324b4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6c102eb981c4d52" /><Relationship Type="http://schemas.openxmlformats.org/officeDocument/2006/relationships/notesMaster" Target="/ppt/notesMasters/notesMaster1.xml" Id="R27bd13a7e32e45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InsightIQ helps people prepare for a sales conversation using public research, their offer, and evidence they can inspect.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starting point was a common sales problem: knowing a company fact is useful, but knowing how to discuss its possible relevance takes more work. InsightIQ separates the fact, possible fit, and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seller chooses meeting preparation or outreach, adds a prospect, and explains the offer. That context shapes the research and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saves the context, finds public sources, extracts evidence, and builds a brief. The seller reviews sources and gaps before using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dashboard keeps research progress and saved briefs in the same workspace. A seller can open completed research and continue preparing.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example from a Vercel brief. The source claim stays separate from the possible fit. The conditional wording matters: the seller still needs to test the hypothesis by asking the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seller can inspect the evidence behind a signal and check source freshness or contradictions. A citation makes a claim traceable, but human judgment still matters.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Next.js dashboard talks to a NestJS API. PostgreSQL stores the workspace and research jobs. A Python and LangGraph worker runs the research, using Tavily discovery and Qwen through DashScope.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outreach draft connects the research to the offer and invites a reply. The seller can personalize the message and verify its claims before sending.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InsightIQ was built by Afnan Ahmad Tariq, Danyal Rana, and Hassan. The product is available at insightiq.zerotools.online.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8328417f344e0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a4e0d0d692433d" /><Relationship Type="http://schemas.openxmlformats.org/officeDocument/2006/relationships/slideLayout" Target="/ppt/slideLayouts/slideLayout1.xml" Id="R35a7179dcb284c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a7179dcb284c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c72fd9abbbf4e55" /><Relationship Type="http://schemas.openxmlformats.org/officeDocument/2006/relationships/image" Target="/ppt/media/image.png" Id="Ree3f3351a38d4c0f" /><Relationship Type="http://schemas.openxmlformats.org/officeDocument/2006/relationships/notesSlide" Target="/ppt/notesSlides/notesSlide1.xml" Id="Rd13c3e0cf61d49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cfe9b0be2ae4b74" /><Relationship Type="http://schemas.openxmlformats.org/officeDocument/2006/relationships/notesSlide" Target="/ppt/notesSlides/notesSlide2.xml" Id="Rd1e25fa4b67e48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61a19ff6a0a4a89" /><Relationship Type="http://schemas.openxmlformats.org/officeDocument/2006/relationships/image" Target="/ppt/media/image2.png" Id="R1a30b88975eb4ebd" /><Relationship Type="http://schemas.openxmlformats.org/officeDocument/2006/relationships/notesSlide" Target="/ppt/notesSlides/notesSlide3.xml" Id="R8bec0b38cce340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7021485e908409d" /><Relationship Type="http://schemas.openxmlformats.org/officeDocument/2006/relationships/notesSlide" Target="/ppt/notesSlides/notesSlide4.xml" Id="Rff122dc70c794f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7152130fbd8442c" /><Relationship Type="http://schemas.openxmlformats.org/officeDocument/2006/relationships/image" Target="/ppt/media/image.jpeg" Id="R7f59ccfb4e2c4af0" /><Relationship Type="http://schemas.openxmlformats.org/officeDocument/2006/relationships/notesSlide" Target="/ppt/notesSlides/notesSlide5.xml" Id="R27d9a62e83fe45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dd216fcc5414f0f" /><Relationship Type="http://schemas.openxmlformats.org/officeDocument/2006/relationships/notesSlide" Target="/ppt/notesSlides/notesSlide6.xml" Id="R8b60064b19b54f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29c78ae8d7941a7" /><Relationship Type="http://schemas.openxmlformats.org/officeDocument/2006/relationships/image" Target="/ppt/media/image3.png" Id="Rad7bfa14ae8e45a0" /><Relationship Type="http://schemas.openxmlformats.org/officeDocument/2006/relationships/notesSlide" Target="/ppt/notesSlides/notesSlide7.xml" Id="R3eba642ce57747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a5cbb1b9a9a4921" /><Relationship Type="http://schemas.openxmlformats.org/officeDocument/2006/relationships/notesSlide" Target="/ppt/notesSlides/notesSlide8.xml" Id="Rbefe391a36a947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3f4f4aae49c4c1d" /><Relationship Type="http://schemas.openxmlformats.org/officeDocument/2006/relationships/notesSlide" Target="/ppt/notesSlides/notesSlide9.xml" Id="R26451f79473545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06f986645c34cbc" /><Relationship Type="http://schemas.openxmlformats.org/officeDocument/2006/relationships/notesSlide" Target="/ppt/notesSlides/notesSlide10.xml" Id="R944e6769b6e44297" /></Relationships>
</file>

<file path=ppt/slides/slide1.xml><?xml version="1.0" encoding="utf-8"?>
<p:sld xmlns:p="http://schemas.openxmlformats.org/presentationml/2006/main">
  <p:cSld>
    <p:bg>
      <p:bgPr>
        <a:solidFill xmlns:a="http://schemas.openxmlformats.org/drawingml/2006/main">
          <a:srgbClr val="EDF5F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e3f3351a38d4c0f"/>
          <a:stretch xmlns:a="http://schemas.openxmlformats.org/drawingml/2006/main"/>
        </p:blipFill>
        <p:spPr>
          <a:xfrm xmlns:a="http://schemas.openxmlformats.org/drawingml/2006/main">
            <a:off x="8429625" y="1571625"/>
            <a:ext cx="2952750" cy="2952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39374FE-022A-49B2-9006-EAA67C19487C}"/>
              </a:ext>
            </a:extLst>
          </p:cNvPr>
          <p:cNvSpPr>
            <a:spLocks xmlns:a="http://schemas.openxmlformats.org/drawingml/2006/main" noGrp="1"/>
          </p:cNvSpPr>
          <p:nvPr/>
        </p:nvSpPr>
        <p:spPr>
          <a:xfrm xmlns:a="http://schemas.openxmlformats.org/drawingml/2006/main">
            <a:off x="609600" y="1590675"/>
            <a:ext cx="723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0B214A"/>
                </a:solidFill>
                <a:latin typeface="Helvetica Neue"/>
                <a:ea typeface="Helvetica Neue"/>
                <a:cs typeface="Helvetica Neue"/>
              </a:defRPr>
            </a:pPr>
            <a:r>
              <a:rPr sz="6150" b="1">
                <a:solidFill>
                  <a:srgbClr val="0B214A"/>
                </a:solidFill>
                <a:latin typeface="Helvetica Neue"/>
                <a:ea typeface="Helvetica Neue"/>
                <a:cs typeface="Helvetica Neue"/>
              </a:rPr>
              <a:t>InsightIQ</a:t>
            </a:r>
          </a:p>
        </p:txBody>
      </p:sp>
      <p:sp>
        <p:nvSpPr>
          <p:cNvPr id="3" name="">
            <a:extLst xmlns:a="http://schemas.openxmlformats.org/drawingml/2006/main">
              <a:ext uri="{FF2B5EF4-FFF2-40B4-BE49-F238E27FC236}">
                <a16:creationId xmlns:a16="http://schemas.microsoft.com/office/drawing/2014/main" id="{97AAD95F-F9BB-4AC4-A7E7-88E4DADD8CA7}"/>
              </a:ext>
            </a:extLst>
          </p:cNvPr>
          <p:cNvSpPr>
            <a:spLocks xmlns:a="http://schemas.openxmlformats.org/drawingml/2006/main" noGrp="1"/>
          </p:cNvSpPr>
          <p:nvPr/>
        </p:nvSpPr>
        <p:spPr>
          <a:xfrm xmlns:a="http://schemas.openxmlformats.org/drawingml/2006/main">
            <a:off x="657225" y="2895600"/>
            <a:ext cx="74295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123363"/>
                </a:solidFill>
                <a:latin typeface="Helvetica Neue"/>
                <a:ea typeface="Helvetica Neue"/>
                <a:cs typeface="Helvetica Neue"/>
              </a:defRPr>
            </a:pPr>
            <a:r>
              <a:rPr sz="3225" b="0">
                <a:solidFill>
                  <a:srgbClr val="123363"/>
                </a:solidFill>
                <a:latin typeface="Helvetica Neue"/>
                <a:ea typeface="Helvetica Neue"/>
                <a:cs typeface="Helvetica Neue"/>
              </a:rPr>
              <a:t>AI research for your</a:t>
            </a:r>
          </a:p>
          <a:p xmlns:a="http://schemas.openxmlformats.org/drawingml/2006/main">
            <a:pPr>
              <a:defRPr sz="3225" b="0">
                <a:solidFill>
                  <a:srgbClr val="123363"/>
                </a:solidFill>
                <a:latin typeface="Helvetica Neue"/>
                <a:ea typeface="Helvetica Neue"/>
                <a:cs typeface="Helvetica Neue"/>
              </a:defRPr>
            </a:pPr>
            <a:r>
              <a:rPr sz="3225" b="0">
                <a:solidFill>
                  <a:srgbClr val="123363"/>
                </a:solidFill>
                <a:latin typeface="Helvetica Neue"/>
                <a:ea typeface="Helvetica Neue"/>
                <a:cs typeface="Helvetica Neue"/>
              </a:rPr>
              <a:t>next sales conversation</a:t>
            </a:r>
          </a:p>
        </p:txBody>
      </p:sp>
      <p:sp>
        <p:nvSpPr>
          <p:cNvPr id="4" name="">
            <a:extLst xmlns:a="http://schemas.openxmlformats.org/drawingml/2006/main">
              <a:ext uri="{FF2B5EF4-FFF2-40B4-BE49-F238E27FC236}">
                <a16:creationId xmlns:a16="http://schemas.microsoft.com/office/drawing/2014/main" id="{1DF961B9-F03B-47AD-9A36-7FEF4EF8341E}"/>
              </a:ext>
            </a:extLst>
          </p:cNvPr>
          <p:cNvSpPr>
            <a:spLocks xmlns:a="http://schemas.openxmlformats.org/drawingml/2006/main" noGrp="1"/>
          </p:cNvSpPr>
          <p:nvPr/>
        </p:nvSpPr>
        <p:spPr>
          <a:xfrm xmlns:a="http://schemas.openxmlformats.org/drawingml/2006/main">
            <a:off x="657225" y="4743450"/>
            <a:ext cx="10610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8718B"/>
                </a:solidFill>
                <a:latin typeface="Helvetica Neue"/>
                <a:ea typeface="Helvetica Neue"/>
                <a:cs typeface="Helvetica Neue"/>
              </a:defRPr>
            </a:pPr>
            <a:r>
              <a:rPr sz="2100" b="0">
                <a:solidFill>
                  <a:srgbClr val="58718B"/>
                </a:solidFill>
                <a:latin typeface="Helvetica Neue"/>
                <a:ea typeface="Helvetica Neue"/>
                <a:cs typeface="Helvetica Neue"/>
              </a:rPr>
              <a:t>Cited claims. Conditional fit. Questions worth asking.</a:t>
            </a:r>
          </a:p>
        </p:txBody>
      </p:sp>
      <p:sp>
        <p:nvSpPr>
          <p:cNvPr id="5" name="">
            <a:extLst xmlns:a="http://schemas.openxmlformats.org/drawingml/2006/main">
              <a:ext uri="{FF2B5EF4-FFF2-40B4-BE49-F238E27FC236}">
                <a16:creationId xmlns:a16="http://schemas.microsoft.com/office/drawing/2014/main" id="{D3423AF4-F652-449E-A811-AC209A0234DA}"/>
              </a:ext>
            </a:extLst>
          </p:cNvPr>
          <p:cNvSpPr>
            <a:spLocks xmlns:a="http://schemas.openxmlformats.org/drawingml/2006/main" noGrp="1"/>
          </p:cNvSpPr>
          <p:nvPr/>
        </p:nvSpPr>
        <p:spPr>
          <a:xfrm xmlns:a="http://schemas.openxmlformats.org/drawingml/2006/main">
            <a:off x="657225" y="58959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8718B"/>
                </a:solidFill>
                <a:latin typeface="Helvetica Neue"/>
                <a:ea typeface="Helvetica Neue"/>
                <a:cs typeface="Helvetica Neue"/>
              </a:defRPr>
            </a:pPr>
            <a:r>
              <a:rPr sz="1575" b="0">
                <a:solidFill>
                  <a:srgbClr val="58718B"/>
                </a:solidFill>
                <a:latin typeface="Helvetica Neue"/>
                <a:ea typeface="Helvetica Neue"/>
                <a:cs typeface="Helvetica Neue"/>
              </a:rPr>
              <a:t>Alibaba Bano Qabil AI Hackathon 2026</a:t>
            </a:r>
          </a:p>
        </p:txBody>
      </p:sp>
    </p:spTree>
    <p:extLst>
      <p:ext uri="{BB962C8B-B14F-4D97-AF65-F5344CB8AC3E}">
        <p14:creationId xmlns:p14="http://schemas.microsoft.com/office/powerpoint/2010/main" val="1872874702"/>
      </p:ext>
    </p:extLst>
  </p:cSld>
</p:sld>
</file>

<file path=ppt/slides/slide2.xml><?xml version="1.0" encoding="utf-8"?>
<p:sld xmlns:p="http://schemas.openxmlformats.org/presentationml/2006/main">
  <p:cSld>
    <p:bg>
      <p:bgPr>
        <a:solidFill xmlns:a="http://schemas.openxmlformats.org/drawingml/2006/main">
          <a:srgbClr val="0B214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31D7BA4-68E8-48C9-B115-A5FC322D433A}"/>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FFFFFF"/>
                </a:solidFill>
                <a:latin typeface="Helvetica Neue"/>
                <a:ea typeface="Helvetica Neue"/>
                <a:cs typeface="Helvetica Neue"/>
              </a:defRPr>
            </a:pPr>
            <a:r>
              <a:rPr sz="3525" b="1">
                <a:solidFill>
                  <a:srgbClr val="FFFFFF"/>
                </a:solidFill>
                <a:latin typeface="Helvetica Neue"/>
                <a:ea typeface="Helvetica Neue"/>
                <a:cs typeface="Helvetica Neue"/>
              </a:rPr>
              <a:t>The idea behind InsightIQ</a:t>
            </a:r>
          </a:p>
        </p:txBody>
      </p:sp>
      <p:sp>
        <p:nvSpPr>
          <p:cNvPr id="2" name="">
            <a:extLst xmlns:a="http://schemas.openxmlformats.org/drawingml/2006/main">
              <a:ext uri="{FF2B5EF4-FFF2-40B4-BE49-F238E27FC236}">
                <a16:creationId xmlns:a16="http://schemas.microsoft.com/office/drawing/2014/main" id="{CD9243F6-F365-49C0-8E77-66243CF664BC}"/>
              </a:ext>
            </a:extLst>
          </p:cNvPr>
          <p:cNvSpPr>
            <a:spLocks xmlns:a="http://schemas.openxmlformats.org/drawingml/2006/main" noGrp="1"/>
          </p:cNvSpPr>
          <p:nvPr/>
        </p:nvSpPr>
        <p:spPr>
          <a:xfrm xmlns:a="http://schemas.openxmlformats.org/drawingml/2006/main">
            <a:off x="657225" y="1866900"/>
            <a:ext cx="4743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3D7F2"/>
                </a:solidFill>
                <a:latin typeface="Helvetica Neue"/>
                <a:ea typeface="Helvetica Neue"/>
                <a:cs typeface="Helvetica Neue"/>
              </a:defRPr>
            </a:pPr>
            <a:r>
              <a:rPr sz="2175" b="1">
                <a:solidFill>
                  <a:srgbClr val="63D7F2"/>
                </a:solidFill>
                <a:latin typeface="Helvetica Neue"/>
                <a:ea typeface="Helvetica Neue"/>
                <a:cs typeface="Helvetica Neue"/>
              </a:rPr>
              <a:t>For people who sell</a:t>
            </a:r>
          </a:p>
        </p:txBody>
      </p:sp>
      <p:sp>
        <p:nvSpPr>
          <p:cNvPr id="3" name="">
            <a:extLst xmlns:a="http://schemas.openxmlformats.org/drawingml/2006/main">
              <a:ext uri="{FF2B5EF4-FFF2-40B4-BE49-F238E27FC236}">
                <a16:creationId xmlns:a16="http://schemas.microsoft.com/office/drawing/2014/main" id="{C336C3A6-A0FA-44A0-B50C-E2BD6D48FBDA}"/>
              </a:ext>
            </a:extLst>
          </p:cNvPr>
          <p:cNvSpPr>
            <a:spLocks xmlns:a="http://schemas.openxmlformats.org/drawingml/2006/main" noGrp="1"/>
          </p:cNvSpPr>
          <p:nvPr/>
        </p:nvSpPr>
        <p:spPr>
          <a:xfrm xmlns:a="http://schemas.openxmlformats.org/drawingml/2006/main">
            <a:off x="657225" y="2590800"/>
            <a:ext cx="476250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B2B sales teams</a:t>
            </a:r>
          </a:p>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Agencies pitching clients</a:t>
            </a:r>
          </a:p>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Founders finding customers</a:t>
            </a:r>
          </a:p>
        </p:txBody>
      </p:sp>
      <p:sp>
        <p:nvSpPr>
          <p:cNvPr id="4" name="">
            <a:extLst xmlns:a="http://schemas.openxmlformats.org/drawingml/2006/main">
              <a:ext uri="{FF2B5EF4-FFF2-40B4-BE49-F238E27FC236}">
                <a16:creationId xmlns:a16="http://schemas.microsoft.com/office/drawing/2014/main" id="{055AE6E6-C662-4637-8138-3EBC08F24CFF}"/>
              </a:ext>
            </a:extLst>
          </p:cNvPr>
          <p:cNvSpPr>
            <a:spLocks xmlns:a="http://schemas.openxmlformats.org/drawingml/2006/main" noGrp="1"/>
          </p:cNvSpPr>
          <p:nvPr/>
        </p:nvSpPr>
        <p:spPr>
          <a:xfrm xmlns:a="http://schemas.openxmlformats.org/drawingml/2006/main">
            <a:off x="6400800" y="186690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3D7F2"/>
                </a:solidFill>
                <a:latin typeface="Helvetica Neue"/>
                <a:ea typeface="Helvetica Neue"/>
                <a:cs typeface="Helvetica Neue"/>
              </a:defRPr>
            </a:pPr>
            <a:r>
              <a:rPr sz="2175" b="1">
                <a:solidFill>
                  <a:srgbClr val="63D7F2"/>
                </a:solidFill>
                <a:latin typeface="Helvetica Neue"/>
                <a:ea typeface="Helvetica Neue"/>
                <a:cs typeface="Helvetica Neue"/>
              </a:rPr>
              <a:t>Before the conversation</a:t>
            </a:r>
          </a:p>
        </p:txBody>
      </p:sp>
      <p:sp>
        <p:nvSpPr>
          <p:cNvPr id="5" name="">
            <a:extLst xmlns:a="http://schemas.openxmlformats.org/drawingml/2006/main">
              <a:ext uri="{FF2B5EF4-FFF2-40B4-BE49-F238E27FC236}">
                <a16:creationId xmlns:a16="http://schemas.microsoft.com/office/drawing/2014/main" id="{C7753819-FFAA-43A4-A358-F536BC71FE87}"/>
              </a:ext>
            </a:extLst>
          </p:cNvPr>
          <p:cNvSpPr>
            <a:spLocks xmlns:a="http://schemas.openxmlformats.org/drawingml/2006/main" noGrp="1"/>
          </p:cNvSpPr>
          <p:nvPr/>
        </p:nvSpPr>
        <p:spPr>
          <a:xfrm xmlns:a="http://schemas.openxmlformats.org/drawingml/2006/main">
            <a:off x="6400800" y="2590800"/>
            <a:ext cx="514350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What is sourced?</a:t>
            </a:r>
          </a:p>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What is inferred?</a:t>
            </a:r>
          </a:p>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What should I ask?</a:t>
            </a:r>
          </a:p>
        </p:txBody>
      </p:sp>
      <p:sp>
        <p:nvSpPr>
          <p:cNvPr id="6" name="">
            <a:extLst xmlns:a="http://schemas.openxmlformats.org/drawingml/2006/main">
              <a:ext uri="{FF2B5EF4-FFF2-40B4-BE49-F238E27FC236}">
                <a16:creationId xmlns:a16="http://schemas.microsoft.com/office/drawing/2014/main" id="{2B798C74-91A6-4A30-B5C8-2BD21D6A9F3B}"/>
              </a:ext>
            </a:extLst>
          </p:cNvPr>
          <p:cNvSpPr>
            <a:spLocks xmlns:a="http://schemas.openxmlformats.org/drawingml/2006/main" noGrp="1"/>
          </p:cNvSpPr>
          <p:nvPr/>
        </p:nvSpPr>
        <p:spPr>
          <a:xfrm xmlns:a="http://schemas.openxmlformats.org/drawingml/2006/main">
            <a:off x="657225" y="5267325"/>
            <a:ext cx="10896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Each angle connects a public claim to your offer.</a:t>
            </a:r>
          </a:p>
        </p:txBody>
      </p:sp>
      <p:sp>
        <p:nvSpPr>
          <p:cNvPr id="7" name="">
            <a:extLst xmlns:a="http://schemas.openxmlformats.org/drawingml/2006/main">
              <a:ext uri="{FF2B5EF4-FFF2-40B4-BE49-F238E27FC236}">
                <a16:creationId xmlns:a16="http://schemas.microsoft.com/office/drawing/2014/main" id="{B5D43C3C-7F7E-4BD6-A80E-D95EFC98C1D1}"/>
              </a:ext>
            </a:extLst>
          </p:cNvPr>
          <p:cNvSpPr>
            <a:spLocks xmlns:a="http://schemas.openxmlformats.org/drawingml/2006/main" noGrp="1"/>
          </p:cNvSpPr>
          <p:nvPr/>
        </p:nvSpPr>
        <p:spPr>
          <a:xfrm xmlns:a="http://schemas.openxmlformats.org/drawingml/2006/main">
            <a:off x="657225" y="5905500"/>
            <a:ext cx="10896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3D7F2"/>
                </a:solidFill>
                <a:latin typeface="Helvetica Neue"/>
                <a:ea typeface="Helvetica Neue"/>
                <a:cs typeface="Helvetica Neue"/>
              </a:defRPr>
            </a:pPr>
            <a:r>
              <a:rPr sz="2025" b="0">
                <a:solidFill>
                  <a:srgbClr val="63D7F2"/>
                </a:solidFill>
                <a:latin typeface="Helvetica Neue"/>
                <a:ea typeface="Helvetica Neue"/>
                <a:cs typeface="Helvetica Neue"/>
              </a:rPr>
              <a:t>A hypothesis explains the possible fit. A question helps you test it.</a:t>
            </a:r>
          </a:p>
        </p:txBody>
      </p:sp>
    </p:spTree>
    <p:extLst>
      <p:ext uri="{BB962C8B-B14F-4D97-AF65-F5344CB8AC3E}">
        <p14:creationId xmlns:p14="http://schemas.microsoft.com/office/powerpoint/2010/main" val="3085084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76A7CD5-AE24-457D-8835-636D35324B60}"/>
              </a:ext>
            </a:extLst>
          </p:cNvPr>
          <p:cNvSpPr>
            <a:spLocks xmlns:a="http://schemas.openxmlformats.org/drawingml/2006/main" noGrp="1"/>
          </p:cNvSpPr>
          <p:nvPr/>
        </p:nvSpPr>
        <p:spPr>
          <a:xfrm xmlns:a="http://schemas.openxmlformats.org/drawingml/2006/main">
            <a:off x="523875" y="733425"/>
            <a:ext cx="5000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0B214A"/>
                </a:solidFill>
                <a:latin typeface="Helvetica Neue"/>
                <a:ea typeface="Helvetica Neue"/>
                <a:cs typeface="Helvetica Neue"/>
              </a:defRPr>
            </a:pPr>
            <a:r>
              <a:rPr sz="3975" b="1">
                <a:solidFill>
                  <a:srgbClr val="0B214A"/>
                </a:solidFill>
                <a:latin typeface="Helvetica Neue"/>
                <a:ea typeface="Helvetica Neue"/>
                <a:cs typeface="Helvetica Neue"/>
              </a:rPr>
              <a:t>Meeting prep</a:t>
            </a:r>
          </a:p>
          <a:p xmlns:a="http://schemas.openxmlformats.org/drawingml/2006/main">
            <a:pPr>
              <a:defRPr sz="3975" b="1">
                <a:solidFill>
                  <a:srgbClr val="0B214A"/>
                </a:solidFill>
                <a:latin typeface="Helvetica Neue"/>
                <a:ea typeface="Helvetica Neue"/>
                <a:cs typeface="Helvetica Neue"/>
              </a:defRPr>
            </a:pPr>
            <a:r>
              <a:rPr sz="3975" b="1">
                <a:solidFill>
                  <a:srgbClr val="0B214A"/>
                </a:solidFill>
                <a:latin typeface="Helvetica Neue"/>
                <a:ea typeface="Helvetica Neue"/>
                <a:cs typeface="Helvetica Neue"/>
              </a:rPr>
              <a:t>or outreach</a:t>
            </a:r>
          </a:p>
        </p:txBody>
      </p:sp>
      <p:sp>
        <p:nvSpPr>
          <p:cNvPr id="2" name="">
            <a:extLst xmlns:a="http://schemas.openxmlformats.org/drawingml/2006/main">
              <a:ext uri="{FF2B5EF4-FFF2-40B4-BE49-F238E27FC236}">
                <a16:creationId xmlns:a16="http://schemas.microsoft.com/office/drawing/2014/main" id="{C7C5DDAC-5FD2-45AA-9A4B-0F2FC99DA4A6}"/>
              </a:ext>
            </a:extLst>
          </p:cNvPr>
          <p:cNvSpPr>
            <a:spLocks xmlns:a="http://schemas.openxmlformats.org/drawingml/2006/main" noGrp="1"/>
          </p:cNvSpPr>
          <p:nvPr/>
        </p:nvSpPr>
        <p:spPr>
          <a:xfrm xmlns:a="http://schemas.openxmlformats.org/drawingml/2006/main">
            <a:off x="571500" y="2562225"/>
            <a:ext cx="447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6FCE"/>
                </a:solidFill>
                <a:latin typeface="Helvetica Neue"/>
                <a:ea typeface="Helvetica Neue"/>
                <a:cs typeface="Helvetica Neue"/>
              </a:defRPr>
            </a:pPr>
            <a:r>
              <a:rPr sz="2250" b="1">
                <a:solidFill>
                  <a:srgbClr val="126FCE"/>
                </a:solidFill>
                <a:latin typeface="Helvetica Neue"/>
                <a:ea typeface="Helvetica Neue"/>
                <a:cs typeface="Helvetica Neue"/>
              </a:rPr>
              <a:t>You choose the goal.</a:t>
            </a:r>
          </a:p>
        </p:txBody>
      </p:sp>
      <p:sp>
        <p:nvSpPr>
          <p:cNvPr id="3" name="">
            <a:extLst xmlns:a="http://schemas.openxmlformats.org/drawingml/2006/main">
              <a:ext uri="{FF2B5EF4-FFF2-40B4-BE49-F238E27FC236}">
                <a16:creationId xmlns:a16="http://schemas.microsoft.com/office/drawing/2014/main" id="{1BFFE550-10A4-48A0-B1D6-EAF2E7AAD0BA}"/>
              </a:ext>
            </a:extLst>
          </p:cNvPr>
          <p:cNvSpPr>
            <a:spLocks xmlns:a="http://schemas.openxmlformats.org/drawingml/2006/main" noGrp="1"/>
          </p:cNvSpPr>
          <p:nvPr/>
        </p:nvSpPr>
        <p:spPr>
          <a:xfrm xmlns:a="http://schemas.openxmlformats.org/drawingml/2006/main">
            <a:off x="571500" y="3286125"/>
            <a:ext cx="44386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8718B"/>
                </a:solidFill>
                <a:latin typeface="Helvetica Neue"/>
                <a:ea typeface="Helvetica Neue"/>
                <a:cs typeface="Helvetica Neue"/>
              </a:defRPr>
            </a:pPr>
            <a:r>
              <a:rPr sz="2100" b="0">
                <a:solidFill>
                  <a:srgbClr val="58718B"/>
                </a:solidFill>
                <a:latin typeface="Helvetica Neue"/>
                <a:ea typeface="Helvetica Neue"/>
                <a:cs typeface="Helvetica Neue"/>
              </a:rPr>
              <a:t>Add a prospect and explain</a:t>
            </a:r>
          </a:p>
          <a:p xmlns:a="http://schemas.openxmlformats.org/drawingml/2006/main">
            <a:pPr>
              <a:defRPr sz="2100" b="0">
                <a:solidFill>
                  <a:srgbClr val="58718B"/>
                </a:solidFill>
                <a:latin typeface="Helvetica Neue"/>
                <a:ea typeface="Helvetica Neue"/>
                <a:cs typeface="Helvetica Neue"/>
              </a:defRPr>
            </a:pPr>
            <a:r>
              <a:rPr sz="2100" b="0">
                <a:solidFill>
                  <a:srgbClr val="58718B"/>
                </a:solidFill>
                <a:latin typeface="Helvetica Neue"/>
                <a:ea typeface="Helvetica Neue"/>
                <a:cs typeface="Helvetica Neue"/>
              </a:rPr>
              <a:t>what you sell. InsightIQ</a:t>
            </a:r>
          </a:p>
          <a:p xmlns:a="http://schemas.openxmlformats.org/drawingml/2006/main">
            <a:pPr>
              <a:defRPr sz="2100" b="0">
                <a:solidFill>
                  <a:srgbClr val="58718B"/>
                </a:solidFill>
                <a:latin typeface="Helvetica Neue"/>
                <a:ea typeface="Helvetica Neue"/>
                <a:cs typeface="Helvetica Neue"/>
              </a:defRPr>
            </a:pPr>
            <a:r>
              <a:rPr sz="2100" b="0">
                <a:solidFill>
                  <a:srgbClr val="58718B"/>
                </a:solidFill>
                <a:latin typeface="Helvetica Neue"/>
                <a:ea typeface="Helvetica Neue"/>
                <a:cs typeface="Helvetica Neue"/>
              </a:rPr>
              <a:t>keeps both in context.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a30b88975eb4ebd"/>
          <a:stretch xmlns:a="http://schemas.openxmlformats.org/drawingml/2006/main"/>
        </p:blipFill>
        <p:spPr>
          <a:xfrm xmlns:a="http://schemas.openxmlformats.org/drawingml/2006/main">
            <a:off x="5476875" y="1641947"/>
            <a:ext cx="6191250" cy="346933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EA9ECBC-C4EA-470F-9450-6D48B8708A56}"/>
              </a:ext>
            </a:extLst>
          </p:cNvPr>
          <p:cNvSpPr>
            <a:spLocks xmlns:a="http://schemas.openxmlformats.org/drawingml/2006/main" noGrp="1"/>
          </p:cNvSpPr>
          <p:nvPr/>
        </p:nvSpPr>
        <p:spPr>
          <a:xfrm xmlns:a="http://schemas.openxmlformats.org/drawingml/2006/main">
            <a:off x="5505450" y="5657850"/>
            <a:ext cx="59531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3363"/>
                </a:solidFill>
                <a:latin typeface="Helvetica Neue"/>
                <a:ea typeface="Helvetica Neue"/>
                <a:cs typeface="Helvetica Neue"/>
              </a:defRPr>
            </a:pPr>
            <a:r>
              <a:rPr sz="1800" b="1">
                <a:solidFill>
                  <a:srgbClr val="123363"/>
                </a:solidFill>
                <a:latin typeface="Helvetica Neue"/>
                <a:ea typeface="Helvetica Neue"/>
                <a:cs typeface="Helvetica Neue"/>
              </a:rPr>
              <a:t>Meeting: talking points and questions</a:t>
            </a:r>
          </a:p>
        </p:txBody>
      </p:sp>
      <p:sp>
        <p:nvSpPr>
          <p:cNvPr id="6" name="">
            <a:extLst xmlns:a="http://schemas.openxmlformats.org/drawingml/2006/main">
              <a:ext uri="{FF2B5EF4-FFF2-40B4-BE49-F238E27FC236}">
                <a16:creationId xmlns:a16="http://schemas.microsoft.com/office/drawing/2014/main" id="{8D857EDA-26E0-4874-9FBA-6B3A1350C398}"/>
              </a:ext>
            </a:extLst>
          </p:cNvPr>
          <p:cNvSpPr>
            <a:spLocks xmlns:a="http://schemas.openxmlformats.org/drawingml/2006/main" noGrp="1"/>
          </p:cNvSpPr>
          <p:nvPr/>
        </p:nvSpPr>
        <p:spPr>
          <a:xfrm xmlns:a="http://schemas.openxmlformats.org/drawingml/2006/main">
            <a:off x="5505450" y="6115050"/>
            <a:ext cx="59531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3363"/>
                </a:solidFill>
                <a:latin typeface="Helvetica Neue"/>
                <a:ea typeface="Helvetica Neue"/>
                <a:cs typeface="Helvetica Neue"/>
              </a:defRPr>
            </a:pPr>
            <a:r>
              <a:rPr sz="1800" b="1">
                <a:solidFill>
                  <a:srgbClr val="123363"/>
                </a:solidFill>
                <a:latin typeface="Helvetica Neue"/>
                <a:ea typeface="Helvetica Neue"/>
                <a:cs typeface="Helvetica Neue"/>
              </a:rPr>
              <a:t>Outreach: an opener and draft to adapt</a:t>
            </a:r>
          </a:p>
        </p:txBody>
      </p:sp>
    </p:spTree>
    <p:extLst>
      <p:ext uri="{BB962C8B-B14F-4D97-AF65-F5344CB8AC3E}">
        <p14:creationId xmlns:p14="http://schemas.microsoft.com/office/powerpoint/2010/main" val="774352000"/>
      </p:ext>
    </p:extLst>
  </p:cSld>
</p:sld>
</file>

<file path=ppt/slides/slide4.xml><?xml version="1.0" encoding="utf-8"?>
<p:sld xmlns:p="http://schemas.openxmlformats.org/presentationml/2006/main">
  <p:cSld>
    <p:bg>
      <p:bgPr>
        <a:solidFill xmlns:a="http://schemas.openxmlformats.org/drawingml/2006/main">
          <a:srgbClr val="0B214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FFA76ED-4C20-479C-8414-8E5956C277E1}"/>
              </a:ext>
            </a:extLst>
          </p:cNvPr>
          <p:cNvSpPr>
            <a:spLocks xmlns:a="http://schemas.openxmlformats.org/drawingml/2006/main" noGrp="1"/>
          </p:cNvSpPr>
          <p:nvPr/>
        </p:nvSpPr>
        <p:spPr>
          <a:xfrm xmlns:a="http://schemas.openxmlformats.org/drawingml/2006/main">
            <a:off x="533400" y="485775"/>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FFFFF"/>
                </a:solidFill>
                <a:latin typeface="Helvetica Neue"/>
                <a:ea typeface="Helvetica Neue"/>
                <a:cs typeface="Helvetica Neue"/>
              </a:defRPr>
            </a:pPr>
            <a:r>
              <a:rPr sz="3825" b="1">
                <a:solidFill>
                  <a:srgbClr val="FFFFFF"/>
                </a:solidFill>
                <a:latin typeface="Helvetica Neue"/>
                <a:ea typeface="Helvetica Neue"/>
                <a:cs typeface="Helvetica Neue"/>
              </a:rPr>
              <a:t>How a Deal Brief takes shape</a:t>
            </a:r>
          </a:p>
        </p:txBody>
      </p:sp>
      <p:sp>
        <p:nvSpPr>
          <p:cNvPr id="2" name="">
            <a:extLst xmlns:a="http://schemas.openxmlformats.org/drawingml/2006/main">
              <a:ext uri="{FF2B5EF4-FFF2-40B4-BE49-F238E27FC236}">
                <a16:creationId xmlns:a16="http://schemas.microsoft.com/office/drawing/2014/main" id="{1DBA740A-126E-4E38-8F6E-08764A1FB9C9}"/>
              </a:ext>
            </a:extLst>
          </p:cNvPr>
          <p:cNvSpPr>
            <a:spLocks xmlns:a="http://schemas.openxmlformats.org/drawingml/2006/main" noGrp="1"/>
          </p:cNvSpPr>
          <p:nvPr/>
        </p:nvSpPr>
        <p:spPr>
          <a:xfrm xmlns:a="http://schemas.openxmlformats.org/drawingml/2006/main">
            <a:off x="590550" y="2057400"/>
            <a:ext cx="857250" cy="857250"/>
          </a:xfrm>
          <a:prstGeom xmlns:a="http://schemas.openxmlformats.org/drawingml/2006/main" prst="ellipse">
            <a:avLst/>
          </a:prstGeom>
          <a:solidFill xmlns:a="http://schemas.openxmlformats.org/drawingml/2006/main">
            <a:srgbClr val="0B214A"/>
          </a:solidFill>
          <a:ln xmlns:a="http://schemas.openxmlformats.org/drawingml/2006/main" w="19050">
            <a:solidFill>
              <a:srgbClr val="63D7F2"/>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2775" b="1">
                <a:solidFill>
                  <a:srgbClr val="63D7F2"/>
                </a:solidFill>
                <a:latin typeface="Helvetica Neue"/>
                <a:ea typeface="Helvetica Neue"/>
                <a:cs typeface="Helvetica Neue"/>
              </a:defRPr>
            </a:pPr>
            <a:r>
              <a:rPr sz="2775" b="1">
                <a:solidFill>
                  <a:srgbClr val="63D7F2"/>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6F337BEA-8336-4B52-81F9-FD3181723A43}"/>
              </a:ext>
            </a:extLst>
          </p:cNvPr>
          <p:cNvSpPr>
            <a:spLocks xmlns:a="http://schemas.openxmlformats.org/drawingml/2006/main" noGrp="1"/>
          </p:cNvSpPr>
          <p:nvPr/>
        </p:nvSpPr>
        <p:spPr>
          <a:xfrm xmlns:a="http://schemas.openxmlformats.org/drawingml/2006/main">
            <a:off x="561975" y="3324225"/>
            <a:ext cx="204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Context</a:t>
            </a:r>
          </a:p>
        </p:txBody>
      </p:sp>
      <p:sp>
        <p:nvSpPr>
          <p:cNvPr id="4" name="">
            <a:extLst xmlns:a="http://schemas.openxmlformats.org/drawingml/2006/main">
              <a:ext uri="{FF2B5EF4-FFF2-40B4-BE49-F238E27FC236}">
                <a16:creationId xmlns:a16="http://schemas.microsoft.com/office/drawing/2014/main" id="{AF2A7377-D59A-4467-9DDC-57472307EF39}"/>
              </a:ext>
            </a:extLst>
          </p:cNvPr>
          <p:cNvSpPr>
            <a:spLocks xmlns:a="http://schemas.openxmlformats.org/drawingml/2006/main" noGrp="1"/>
          </p:cNvSpPr>
          <p:nvPr/>
        </p:nvSpPr>
        <p:spPr>
          <a:xfrm xmlns:a="http://schemas.openxmlformats.org/drawingml/2006/main">
            <a:off x="561975" y="4048125"/>
            <a:ext cx="21050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Prospect, offer,</a:t>
            </a:r>
          </a:p>
          <a:p xmlns:a="http://schemas.openxmlformats.org/drawingml/2006/main">
            <a:pPr>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and chosen goal</a:t>
            </a:r>
          </a:p>
        </p:txBody>
      </p:sp>
      <p:sp>
        <p:nvSpPr>
          <p:cNvPr id="5" name="">
            <a:extLst xmlns:a="http://schemas.openxmlformats.org/drawingml/2006/main">
              <a:ext uri="{FF2B5EF4-FFF2-40B4-BE49-F238E27FC236}">
                <a16:creationId xmlns:a16="http://schemas.microsoft.com/office/drawing/2014/main" id="{309D132F-B9E6-454B-8D10-C62BC126D0F1}"/>
              </a:ext>
            </a:extLst>
          </p:cNvPr>
          <p:cNvSpPr>
            <a:spLocks xmlns:a="http://schemas.openxmlformats.org/drawingml/2006/main" noGrp="1"/>
          </p:cNvSpPr>
          <p:nvPr/>
        </p:nvSpPr>
        <p:spPr>
          <a:xfrm xmlns:a="http://schemas.openxmlformats.org/drawingml/2006/main">
            <a:off x="2819400" y="2057400"/>
            <a:ext cx="857250" cy="857250"/>
          </a:xfrm>
          <a:prstGeom xmlns:a="http://schemas.openxmlformats.org/drawingml/2006/main" prst="ellipse">
            <a:avLst/>
          </a:prstGeom>
          <a:solidFill xmlns:a="http://schemas.openxmlformats.org/drawingml/2006/main">
            <a:srgbClr val="0B214A"/>
          </a:solidFill>
          <a:ln xmlns:a="http://schemas.openxmlformats.org/drawingml/2006/main" w="19050">
            <a:solidFill>
              <a:srgbClr val="63D7F2"/>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2775" b="1">
                <a:solidFill>
                  <a:srgbClr val="63D7F2"/>
                </a:solidFill>
                <a:latin typeface="Helvetica Neue"/>
                <a:ea typeface="Helvetica Neue"/>
                <a:cs typeface="Helvetica Neue"/>
              </a:defRPr>
            </a:pPr>
            <a:r>
              <a:rPr sz="2775" b="1">
                <a:solidFill>
                  <a:srgbClr val="63D7F2"/>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D663AE85-F261-44D8-AC0E-8BB9668898D0}"/>
              </a:ext>
            </a:extLst>
          </p:cNvPr>
          <p:cNvSpPr>
            <a:spLocks xmlns:a="http://schemas.openxmlformats.org/drawingml/2006/main" noGrp="1"/>
          </p:cNvSpPr>
          <p:nvPr/>
        </p:nvSpPr>
        <p:spPr>
          <a:xfrm xmlns:a="http://schemas.openxmlformats.org/drawingml/2006/main">
            <a:off x="2790825" y="3324225"/>
            <a:ext cx="204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Discovery</a:t>
            </a:r>
          </a:p>
        </p:txBody>
      </p:sp>
      <p:sp>
        <p:nvSpPr>
          <p:cNvPr id="7" name="">
            <a:extLst xmlns:a="http://schemas.openxmlformats.org/drawingml/2006/main">
              <a:ext uri="{FF2B5EF4-FFF2-40B4-BE49-F238E27FC236}">
                <a16:creationId xmlns:a16="http://schemas.microsoft.com/office/drawing/2014/main" id="{F41A3E4D-236D-40BD-88CB-C0329DDA4DD8}"/>
              </a:ext>
            </a:extLst>
          </p:cNvPr>
          <p:cNvSpPr>
            <a:spLocks xmlns:a="http://schemas.openxmlformats.org/drawingml/2006/main" noGrp="1"/>
          </p:cNvSpPr>
          <p:nvPr/>
        </p:nvSpPr>
        <p:spPr>
          <a:xfrm xmlns:a="http://schemas.openxmlformats.org/drawingml/2006/main">
            <a:off x="2790825" y="4048125"/>
            <a:ext cx="21050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Relevant public</a:t>
            </a:r>
          </a:p>
          <a:p xmlns:a="http://schemas.openxmlformats.org/drawingml/2006/main">
            <a:pPr>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company signals</a:t>
            </a:r>
          </a:p>
        </p:txBody>
      </p:sp>
      <p:cxnSp>
        <p:nvCxnSpPr>
          <p:cNvPr id="29" name=""/>
          <p:cNvCxnSpPr>
            <a:stCxn xmlns:a="http://schemas.openxmlformats.org/drawingml/2006/main" id="2" idx="6"/>
            <a:endCxn xmlns:a="http://schemas.openxmlformats.org/drawingml/2006/main" id="5" idx="2"/>
          </p:cNvCxnSpPr>
          <p:nvPr/>
        </p:nvCxnSpPr>
        <p:spPr>
          <a:xfrm xmlns:a="http://schemas.openxmlformats.org/drawingml/2006/main">
            <a:off x="1447800" y="2486025"/>
            <a:ext cx="1371600" cy="0"/>
          </a:xfrm>
          <a:prstGeom xmlns:a="http://schemas.openxmlformats.org/drawingml/2006/main" prst="straightConnector1">
            <a:avLst/>
          </a:prstGeom>
          <a:ln xmlns:a="http://schemas.openxmlformats.org/drawingml/2006/main" w="19050">
            <a:solidFill>
              <a:srgbClr val="63D7F2"/>
            </a:solidFill>
            <a:tailEnd type="triangle" w="med" len="med"/>
          </a:ln>
        </p:spPr>
      </p:cxnSp>
      <p:sp>
        <p:nvSpPr>
          <p:cNvPr id="9" name="">
            <a:extLst xmlns:a="http://schemas.openxmlformats.org/drawingml/2006/main">
              <a:ext uri="{FF2B5EF4-FFF2-40B4-BE49-F238E27FC236}">
                <a16:creationId xmlns:a16="http://schemas.microsoft.com/office/drawing/2014/main" id="{C954254D-395A-4390-A6AB-D1392E86BA11}"/>
              </a:ext>
            </a:extLst>
          </p:cNvPr>
          <p:cNvSpPr>
            <a:spLocks xmlns:a="http://schemas.openxmlformats.org/drawingml/2006/main" noGrp="1"/>
          </p:cNvSpPr>
          <p:nvPr/>
        </p:nvSpPr>
        <p:spPr>
          <a:xfrm xmlns:a="http://schemas.openxmlformats.org/drawingml/2006/main">
            <a:off x="5048250" y="2057400"/>
            <a:ext cx="857250" cy="857250"/>
          </a:xfrm>
          <a:prstGeom xmlns:a="http://schemas.openxmlformats.org/drawingml/2006/main" prst="ellipse">
            <a:avLst/>
          </a:prstGeom>
          <a:solidFill xmlns:a="http://schemas.openxmlformats.org/drawingml/2006/main">
            <a:srgbClr val="0B214A"/>
          </a:solidFill>
          <a:ln xmlns:a="http://schemas.openxmlformats.org/drawingml/2006/main" w="19050">
            <a:solidFill>
              <a:srgbClr val="63D7F2"/>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2775" b="1">
                <a:solidFill>
                  <a:srgbClr val="63D7F2"/>
                </a:solidFill>
                <a:latin typeface="Helvetica Neue"/>
                <a:ea typeface="Helvetica Neue"/>
                <a:cs typeface="Helvetica Neue"/>
              </a:defRPr>
            </a:pPr>
            <a:r>
              <a:rPr sz="2775" b="1">
                <a:solidFill>
                  <a:srgbClr val="63D7F2"/>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D78DAD8B-1FCA-48A5-B16C-E37F9232ACAE}"/>
              </a:ext>
            </a:extLst>
          </p:cNvPr>
          <p:cNvSpPr>
            <a:spLocks xmlns:a="http://schemas.openxmlformats.org/drawingml/2006/main" noGrp="1"/>
          </p:cNvSpPr>
          <p:nvPr/>
        </p:nvSpPr>
        <p:spPr>
          <a:xfrm xmlns:a="http://schemas.openxmlformats.org/drawingml/2006/main">
            <a:off x="5019675" y="3324225"/>
            <a:ext cx="204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Evidence</a:t>
            </a:r>
          </a:p>
        </p:txBody>
      </p:sp>
      <p:sp>
        <p:nvSpPr>
          <p:cNvPr id="11" name="">
            <a:extLst xmlns:a="http://schemas.openxmlformats.org/drawingml/2006/main">
              <a:ext uri="{FF2B5EF4-FFF2-40B4-BE49-F238E27FC236}">
                <a16:creationId xmlns:a16="http://schemas.microsoft.com/office/drawing/2014/main" id="{4D81DF86-28A2-4C8C-8923-81175DC551AF}"/>
              </a:ext>
            </a:extLst>
          </p:cNvPr>
          <p:cNvSpPr>
            <a:spLocks xmlns:a="http://schemas.openxmlformats.org/drawingml/2006/main" noGrp="1"/>
          </p:cNvSpPr>
          <p:nvPr/>
        </p:nvSpPr>
        <p:spPr>
          <a:xfrm xmlns:a="http://schemas.openxmlformats.org/drawingml/2006/main">
            <a:off x="5019675" y="4048125"/>
            <a:ext cx="21050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Claims with</a:t>
            </a:r>
          </a:p>
          <a:p xmlns:a="http://schemas.openxmlformats.org/drawingml/2006/main">
            <a:pPr>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source links</a:t>
            </a:r>
          </a:p>
        </p:txBody>
      </p:sp>
      <p:cxnSp>
        <p:nvCxnSpPr>
          <p:cNvPr id="33" name=""/>
          <p:cNvCxnSpPr>
            <a:stCxn xmlns:a="http://schemas.openxmlformats.org/drawingml/2006/main" id="5" idx="6"/>
            <a:endCxn xmlns:a="http://schemas.openxmlformats.org/drawingml/2006/main" id="9" idx="2"/>
          </p:cNvCxnSpPr>
          <p:nvPr/>
        </p:nvCxnSpPr>
        <p:spPr>
          <a:xfrm xmlns:a="http://schemas.openxmlformats.org/drawingml/2006/main">
            <a:off x="3676650" y="2486025"/>
            <a:ext cx="1371600" cy="0"/>
          </a:xfrm>
          <a:prstGeom xmlns:a="http://schemas.openxmlformats.org/drawingml/2006/main" prst="straightConnector1">
            <a:avLst/>
          </a:prstGeom>
          <a:ln xmlns:a="http://schemas.openxmlformats.org/drawingml/2006/main" w="19050">
            <a:solidFill>
              <a:srgbClr val="63D7F2"/>
            </a:solidFill>
            <a:tailEnd type="triangle" w="med" len="med"/>
          </a:ln>
        </p:spPr>
      </p:cxnSp>
      <p:sp>
        <p:nvSpPr>
          <p:cNvPr id="13" name="">
            <a:extLst xmlns:a="http://schemas.openxmlformats.org/drawingml/2006/main">
              <a:ext uri="{FF2B5EF4-FFF2-40B4-BE49-F238E27FC236}">
                <a16:creationId xmlns:a16="http://schemas.microsoft.com/office/drawing/2014/main" id="{5FA5C47F-7C66-4285-81BD-A215B0B8DA83}"/>
              </a:ext>
            </a:extLst>
          </p:cNvPr>
          <p:cNvSpPr>
            <a:spLocks xmlns:a="http://schemas.openxmlformats.org/drawingml/2006/main" noGrp="1"/>
          </p:cNvSpPr>
          <p:nvPr/>
        </p:nvSpPr>
        <p:spPr>
          <a:xfrm xmlns:a="http://schemas.openxmlformats.org/drawingml/2006/main">
            <a:off x="7277100" y="2057400"/>
            <a:ext cx="857250" cy="857250"/>
          </a:xfrm>
          <a:prstGeom xmlns:a="http://schemas.openxmlformats.org/drawingml/2006/main" prst="ellipse">
            <a:avLst/>
          </a:prstGeom>
          <a:solidFill xmlns:a="http://schemas.openxmlformats.org/drawingml/2006/main">
            <a:srgbClr val="0B214A"/>
          </a:solidFill>
          <a:ln xmlns:a="http://schemas.openxmlformats.org/drawingml/2006/main" w="19050">
            <a:solidFill>
              <a:srgbClr val="63D7F2"/>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2775" b="1">
                <a:solidFill>
                  <a:srgbClr val="63D7F2"/>
                </a:solidFill>
                <a:latin typeface="Helvetica Neue"/>
                <a:ea typeface="Helvetica Neue"/>
                <a:cs typeface="Helvetica Neue"/>
              </a:defRPr>
            </a:pPr>
            <a:r>
              <a:rPr sz="2775" b="1">
                <a:solidFill>
                  <a:srgbClr val="63D7F2"/>
                </a:solidFill>
                <a:latin typeface="Helvetica Neue"/>
                <a:ea typeface="Helvetica Neue"/>
                <a:cs typeface="Helvetica Neue"/>
              </a:rPr>
              <a:t>04</a:t>
            </a:r>
          </a:p>
        </p:txBody>
      </p:sp>
      <p:sp>
        <p:nvSpPr>
          <p:cNvPr id="14" name="">
            <a:extLst xmlns:a="http://schemas.openxmlformats.org/drawingml/2006/main">
              <a:ext uri="{FF2B5EF4-FFF2-40B4-BE49-F238E27FC236}">
                <a16:creationId xmlns:a16="http://schemas.microsoft.com/office/drawing/2014/main" id="{68AE5AD9-3C44-4118-AF54-1C459CEA68BC}"/>
              </a:ext>
            </a:extLst>
          </p:cNvPr>
          <p:cNvSpPr>
            <a:spLocks xmlns:a="http://schemas.openxmlformats.org/drawingml/2006/main" noGrp="1"/>
          </p:cNvSpPr>
          <p:nvPr/>
        </p:nvSpPr>
        <p:spPr>
          <a:xfrm xmlns:a="http://schemas.openxmlformats.org/drawingml/2006/main">
            <a:off x="7248525" y="3324225"/>
            <a:ext cx="204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Brief</a:t>
            </a:r>
          </a:p>
        </p:txBody>
      </p:sp>
      <p:sp>
        <p:nvSpPr>
          <p:cNvPr id="15" name="">
            <a:extLst xmlns:a="http://schemas.openxmlformats.org/drawingml/2006/main">
              <a:ext uri="{FF2B5EF4-FFF2-40B4-BE49-F238E27FC236}">
                <a16:creationId xmlns:a16="http://schemas.microsoft.com/office/drawing/2014/main" id="{548C6C94-384F-4179-BB64-462230346556}"/>
              </a:ext>
            </a:extLst>
          </p:cNvPr>
          <p:cNvSpPr>
            <a:spLocks xmlns:a="http://schemas.openxmlformats.org/drawingml/2006/main" noGrp="1"/>
          </p:cNvSpPr>
          <p:nvPr/>
        </p:nvSpPr>
        <p:spPr>
          <a:xfrm xmlns:a="http://schemas.openxmlformats.org/drawingml/2006/main">
            <a:off x="7248525" y="4048125"/>
            <a:ext cx="21050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Brief and</a:t>
            </a:r>
          </a:p>
          <a:p xmlns:a="http://schemas.openxmlformats.org/drawingml/2006/main">
            <a:pPr>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citation checks</a:t>
            </a:r>
          </a:p>
        </p:txBody>
      </p:sp>
      <p:cxnSp>
        <p:nvCxnSpPr>
          <p:cNvPr id="37" name=""/>
          <p:cNvCxnSpPr>
            <a:stCxn xmlns:a="http://schemas.openxmlformats.org/drawingml/2006/main" id="9" idx="6"/>
            <a:endCxn xmlns:a="http://schemas.openxmlformats.org/drawingml/2006/main" id="13" idx="2"/>
          </p:cNvCxnSpPr>
          <p:nvPr/>
        </p:nvCxnSpPr>
        <p:spPr>
          <a:xfrm xmlns:a="http://schemas.openxmlformats.org/drawingml/2006/main">
            <a:off x="5905500" y="2486025"/>
            <a:ext cx="1371600" cy="0"/>
          </a:xfrm>
          <a:prstGeom xmlns:a="http://schemas.openxmlformats.org/drawingml/2006/main" prst="straightConnector1">
            <a:avLst/>
          </a:prstGeom>
          <a:ln xmlns:a="http://schemas.openxmlformats.org/drawingml/2006/main" w="19050">
            <a:solidFill>
              <a:srgbClr val="63D7F2"/>
            </a:solidFill>
            <a:tailEnd type="triangle" w="med" len="med"/>
          </a:ln>
        </p:spPr>
      </p:cxnSp>
      <p:sp>
        <p:nvSpPr>
          <p:cNvPr id="17" name="">
            <a:extLst xmlns:a="http://schemas.openxmlformats.org/drawingml/2006/main">
              <a:ext uri="{FF2B5EF4-FFF2-40B4-BE49-F238E27FC236}">
                <a16:creationId xmlns:a16="http://schemas.microsoft.com/office/drawing/2014/main" id="{40B1E0CB-D8BE-4ABD-B9F4-C86F66D256C4}"/>
              </a:ext>
            </a:extLst>
          </p:cNvPr>
          <p:cNvSpPr>
            <a:spLocks xmlns:a="http://schemas.openxmlformats.org/drawingml/2006/main" noGrp="1"/>
          </p:cNvSpPr>
          <p:nvPr/>
        </p:nvSpPr>
        <p:spPr>
          <a:xfrm xmlns:a="http://schemas.openxmlformats.org/drawingml/2006/main">
            <a:off x="9505950" y="2057400"/>
            <a:ext cx="857250" cy="857250"/>
          </a:xfrm>
          <a:prstGeom xmlns:a="http://schemas.openxmlformats.org/drawingml/2006/main" prst="ellipse">
            <a:avLst/>
          </a:prstGeom>
          <a:solidFill xmlns:a="http://schemas.openxmlformats.org/drawingml/2006/main">
            <a:srgbClr val="63D7F2"/>
          </a:solidFill>
          <a:ln xmlns:a="http://schemas.openxmlformats.org/drawingml/2006/main" w="19050">
            <a:solidFill>
              <a:srgbClr val="63D7F2"/>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2775" b="1">
                <a:solidFill>
                  <a:srgbClr val="0B214A"/>
                </a:solidFill>
                <a:latin typeface="Helvetica Neue"/>
                <a:ea typeface="Helvetica Neue"/>
                <a:cs typeface="Helvetica Neue"/>
              </a:defRPr>
            </a:pPr>
            <a:r>
              <a:rPr sz="2775" b="1">
                <a:solidFill>
                  <a:srgbClr val="0B214A"/>
                </a:solidFill>
                <a:latin typeface="Helvetica Neue"/>
                <a:ea typeface="Helvetica Neue"/>
                <a:cs typeface="Helvetica Neue"/>
              </a:rPr>
              <a:t>05</a:t>
            </a:r>
          </a:p>
        </p:txBody>
      </p:sp>
      <p:sp>
        <p:nvSpPr>
          <p:cNvPr id="18" name="">
            <a:extLst xmlns:a="http://schemas.openxmlformats.org/drawingml/2006/main">
              <a:ext uri="{FF2B5EF4-FFF2-40B4-BE49-F238E27FC236}">
                <a16:creationId xmlns:a16="http://schemas.microsoft.com/office/drawing/2014/main" id="{464DFAFD-3F67-496B-82EA-902F33C34EA2}"/>
              </a:ext>
            </a:extLst>
          </p:cNvPr>
          <p:cNvSpPr>
            <a:spLocks xmlns:a="http://schemas.openxmlformats.org/drawingml/2006/main" noGrp="1"/>
          </p:cNvSpPr>
          <p:nvPr/>
        </p:nvSpPr>
        <p:spPr>
          <a:xfrm xmlns:a="http://schemas.openxmlformats.org/drawingml/2006/main">
            <a:off x="9477375" y="3324225"/>
            <a:ext cx="204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Review</a:t>
            </a:r>
          </a:p>
        </p:txBody>
      </p:sp>
      <p:sp>
        <p:nvSpPr>
          <p:cNvPr id="19" name="">
            <a:extLst xmlns:a="http://schemas.openxmlformats.org/drawingml/2006/main">
              <a:ext uri="{FF2B5EF4-FFF2-40B4-BE49-F238E27FC236}">
                <a16:creationId xmlns:a16="http://schemas.microsoft.com/office/drawing/2014/main" id="{227D46AE-E76A-480B-B14C-7B08CC503CFD}"/>
              </a:ext>
            </a:extLst>
          </p:cNvPr>
          <p:cNvSpPr>
            <a:spLocks xmlns:a="http://schemas.openxmlformats.org/drawingml/2006/main" noGrp="1"/>
          </p:cNvSpPr>
          <p:nvPr/>
        </p:nvSpPr>
        <p:spPr>
          <a:xfrm xmlns:a="http://schemas.openxmlformats.org/drawingml/2006/main">
            <a:off x="9477375" y="4048125"/>
            <a:ext cx="21050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Check gaps and</a:t>
            </a:r>
          </a:p>
          <a:p xmlns:a="http://schemas.openxmlformats.org/drawingml/2006/main">
            <a:pPr>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adapt the output</a:t>
            </a:r>
          </a:p>
        </p:txBody>
      </p:sp>
      <p:cxnSp>
        <p:nvCxnSpPr>
          <p:cNvPr id="41" name=""/>
          <p:cNvCxnSpPr>
            <a:stCxn xmlns:a="http://schemas.openxmlformats.org/drawingml/2006/main" id="13" idx="6"/>
            <a:endCxn xmlns:a="http://schemas.openxmlformats.org/drawingml/2006/main" id="17" idx="2"/>
          </p:cNvCxnSpPr>
          <p:nvPr/>
        </p:nvCxnSpPr>
        <p:spPr>
          <a:xfrm xmlns:a="http://schemas.openxmlformats.org/drawingml/2006/main">
            <a:off x="8134350" y="2486025"/>
            <a:ext cx="1371600" cy="0"/>
          </a:xfrm>
          <a:prstGeom xmlns:a="http://schemas.openxmlformats.org/drawingml/2006/main" prst="straightConnector1">
            <a:avLst/>
          </a:prstGeom>
          <a:ln xmlns:a="http://schemas.openxmlformats.org/drawingml/2006/main" w="19050">
            <a:solidFill>
              <a:srgbClr val="63D7F2"/>
            </a:solidFill>
            <a:tailEnd type="triangle" w="med" len="med"/>
          </a:ln>
        </p:spPr>
      </p:cxnSp>
      <p:sp>
        <p:nvSpPr>
          <p:cNvPr id="21" name="">
            <a:extLst xmlns:a="http://schemas.openxmlformats.org/drawingml/2006/main">
              <a:ext uri="{FF2B5EF4-FFF2-40B4-BE49-F238E27FC236}">
                <a16:creationId xmlns:a16="http://schemas.microsoft.com/office/drawing/2014/main" id="{C85298A6-D248-4C87-AFE2-0839476EFAA7}"/>
              </a:ext>
            </a:extLst>
          </p:cNvPr>
          <p:cNvSpPr>
            <a:spLocks xmlns:a="http://schemas.openxmlformats.org/drawingml/2006/main" noGrp="1"/>
          </p:cNvSpPr>
          <p:nvPr/>
        </p:nvSpPr>
        <p:spPr>
          <a:xfrm xmlns:a="http://schemas.openxmlformats.org/drawingml/2006/main">
            <a:off x="590550" y="5943600"/>
            <a:ext cx="10801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63D7F2"/>
                </a:solidFill>
                <a:latin typeface="Helvetica Neue"/>
                <a:ea typeface="Helvetica Neue"/>
                <a:cs typeface="Helvetica Neue"/>
              </a:defRPr>
            </a:pPr>
            <a:r>
              <a:rPr sz="2100" b="1">
                <a:solidFill>
                  <a:srgbClr val="63D7F2"/>
                </a:solidFill>
                <a:latin typeface="Helvetica Neue"/>
                <a:ea typeface="Helvetica Neue"/>
                <a:cs typeface="Helvetica Neue"/>
              </a:rPr>
              <a:t>Sources stay attached so the seller can review the reasoning.</a:t>
            </a:r>
          </a:p>
        </p:txBody>
      </p:sp>
    </p:spTree>
    <p:extLst>
      <p:ext uri="{BB962C8B-B14F-4D97-AF65-F5344CB8AC3E}">
        <p14:creationId xmlns:p14="http://schemas.microsoft.com/office/powerpoint/2010/main" val="1064318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311C953-25D8-4A72-94D9-7FA81C39B456}"/>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0B214A"/>
                </a:solidFill>
                <a:latin typeface="Helvetica Neue"/>
                <a:ea typeface="Helvetica Neue"/>
                <a:cs typeface="Helvetica Neue"/>
              </a:defRPr>
            </a:pPr>
            <a:r>
              <a:rPr sz="3525" b="1">
                <a:solidFill>
                  <a:srgbClr val="0B214A"/>
                </a:solidFill>
                <a:latin typeface="Helvetica Neue"/>
                <a:ea typeface="Helvetica Neue"/>
                <a:cs typeface="Helvetica Neue"/>
              </a:rPr>
              <a:t>Your research, in one workspace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f59ccfb4e2c4af0"/>
          <a:stretch xmlns:a="http://schemas.openxmlformats.org/drawingml/2006/main"/>
        </p:blipFill>
        <p:spPr>
          <a:xfrm xmlns:a="http://schemas.openxmlformats.org/drawingml/2006/main">
            <a:off x="540089" y="1666875"/>
            <a:ext cx="7987622" cy="44958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D4B3D26-960D-4EE6-9561-80539284A247}"/>
              </a:ext>
            </a:extLst>
          </p:cNvPr>
          <p:cNvSpPr>
            <a:spLocks xmlns:a="http://schemas.openxmlformats.org/drawingml/2006/main" noGrp="1"/>
          </p:cNvSpPr>
          <p:nvPr/>
        </p:nvSpPr>
        <p:spPr>
          <a:xfrm xmlns:a="http://schemas.openxmlformats.org/drawingml/2006/main">
            <a:off x="8953500" y="1809750"/>
            <a:ext cx="2619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6FCE"/>
                </a:solidFill>
                <a:latin typeface="Helvetica Neue"/>
                <a:ea typeface="Helvetica Neue"/>
                <a:cs typeface="Helvetica Neue"/>
              </a:defRPr>
            </a:pPr>
            <a:r>
              <a:rPr sz="2025" b="1">
                <a:solidFill>
                  <a:srgbClr val="126FCE"/>
                </a:solidFill>
                <a:latin typeface="Helvetica Neue"/>
                <a:ea typeface="Helvetica Neue"/>
                <a:cs typeface="Helvetica Neue"/>
              </a:rPr>
              <a:t>Research progress</a:t>
            </a:r>
          </a:p>
        </p:txBody>
      </p:sp>
      <p:sp>
        <p:nvSpPr>
          <p:cNvPr id="4" name="">
            <a:extLst xmlns:a="http://schemas.openxmlformats.org/drawingml/2006/main">
              <a:ext uri="{FF2B5EF4-FFF2-40B4-BE49-F238E27FC236}">
                <a16:creationId xmlns:a16="http://schemas.microsoft.com/office/drawing/2014/main" id="{79EBDED9-B7B0-4396-8DB1-3AEC410453B7}"/>
              </a:ext>
            </a:extLst>
          </p:cNvPr>
          <p:cNvSpPr>
            <a:spLocks xmlns:a="http://schemas.openxmlformats.org/drawingml/2006/main" noGrp="1"/>
          </p:cNvSpPr>
          <p:nvPr/>
        </p:nvSpPr>
        <p:spPr>
          <a:xfrm xmlns:a="http://schemas.openxmlformats.org/drawingml/2006/main">
            <a:off x="8953500" y="2343150"/>
            <a:ext cx="2619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3363"/>
                </a:solidFill>
                <a:latin typeface="Helvetica Neue"/>
                <a:ea typeface="Helvetica Neue"/>
                <a:cs typeface="Helvetica Neue"/>
              </a:defRPr>
            </a:pPr>
            <a:r>
              <a:rPr sz="1875" b="0">
                <a:solidFill>
                  <a:srgbClr val="123363"/>
                </a:solidFill>
                <a:latin typeface="Helvetica Neue"/>
                <a:ea typeface="Helvetica Neue"/>
                <a:cs typeface="Helvetica Neue"/>
              </a:rPr>
              <a:t>See what is running and what is ready.</a:t>
            </a:r>
          </a:p>
        </p:txBody>
      </p:sp>
      <p:sp>
        <p:nvSpPr>
          <p:cNvPr id="5" name="">
            <a:extLst xmlns:a="http://schemas.openxmlformats.org/drawingml/2006/main">
              <a:ext uri="{FF2B5EF4-FFF2-40B4-BE49-F238E27FC236}">
                <a16:creationId xmlns:a16="http://schemas.microsoft.com/office/drawing/2014/main" id="{D495551F-3E43-4BDB-8B00-99CE6415D692}"/>
              </a:ext>
            </a:extLst>
          </p:cNvPr>
          <p:cNvSpPr>
            <a:spLocks xmlns:a="http://schemas.openxmlformats.org/drawingml/2006/main" noGrp="1"/>
          </p:cNvSpPr>
          <p:nvPr/>
        </p:nvSpPr>
        <p:spPr>
          <a:xfrm xmlns:a="http://schemas.openxmlformats.org/drawingml/2006/main">
            <a:off x="8953500" y="3438525"/>
            <a:ext cx="2619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6FCE"/>
                </a:solidFill>
                <a:latin typeface="Helvetica Neue"/>
                <a:ea typeface="Helvetica Neue"/>
                <a:cs typeface="Helvetica Neue"/>
              </a:defRPr>
            </a:pPr>
            <a:r>
              <a:rPr sz="2025" b="1">
                <a:solidFill>
                  <a:srgbClr val="126FCE"/>
                </a:solidFill>
                <a:latin typeface="Helvetica Neue"/>
                <a:ea typeface="Helvetica Neue"/>
                <a:cs typeface="Helvetica Neue"/>
              </a:rPr>
              <a:t>Saved briefs</a:t>
            </a:r>
          </a:p>
        </p:txBody>
      </p:sp>
      <p:sp>
        <p:nvSpPr>
          <p:cNvPr id="6" name="">
            <a:extLst xmlns:a="http://schemas.openxmlformats.org/drawingml/2006/main">
              <a:ext uri="{FF2B5EF4-FFF2-40B4-BE49-F238E27FC236}">
                <a16:creationId xmlns:a16="http://schemas.microsoft.com/office/drawing/2014/main" id="{3A88ED9A-9505-482C-9495-930128A2EFF1}"/>
              </a:ext>
            </a:extLst>
          </p:cNvPr>
          <p:cNvSpPr>
            <a:spLocks xmlns:a="http://schemas.openxmlformats.org/drawingml/2006/main" noGrp="1"/>
          </p:cNvSpPr>
          <p:nvPr/>
        </p:nvSpPr>
        <p:spPr>
          <a:xfrm xmlns:a="http://schemas.openxmlformats.org/drawingml/2006/main">
            <a:off x="8953500" y="3962400"/>
            <a:ext cx="26193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3363"/>
                </a:solidFill>
                <a:latin typeface="Helvetica Neue"/>
                <a:ea typeface="Helvetica Neue"/>
                <a:cs typeface="Helvetica Neue"/>
              </a:defRPr>
            </a:pPr>
            <a:r>
              <a:rPr sz="1875" b="0">
                <a:solidFill>
                  <a:srgbClr val="123363"/>
                </a:solidFill>
                <a:latin typeface="Helvetica Neue"/>
                <a:ea typeface="Helvetica Neue"/>
                <a:cs typeface="Helvetica Neue"/>
              </a:rPr>
              <a:t>Open the latest research and continue preparing.</a:t>
            </a:r>
          </a:p>
        </p:txBody>
      </p:sp>
      <p:sp>
        <p:nvSpPr>
          <p:cNvPr id="7" name="">
            <a:extLst xmlns:a="http://schemas.openxmlformats.org/drawingml/2006/main">
              <a:ext uri="{FF2B5EF4-FFF2-40B4-BE49-F238E27FC236}">
                <a16:creationId xmlns:a16="http://schemas.microsoft.com/office/drawing/2014/main" id="{5245E354-F539-4A0C-A96E-733686BC0350}"/>
              </a:ext>
            </a:extLst>
          </p:cNvPr>
          <p:cNvSpPr>
            <a:spLocks xmlns:a="http://schemas.openxmlformats.org/drawingml/2006/main" noGrp="1"/>
          </p:cNvSpPr>
          <p:nvPr/>
        </p:nvSpPr>
        <p:spPr>
          <a:xfrm xmlns:a="http://schemas.openxmlformats.org/drawingml/2006/main">
            <a:off x="8953500" y="5229225"/>
            <a:ext cx="2619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6FCE"/>
                </a:solidFill>
                <a:latin typeface="Helvetica Neue"/>
                <a:ea typeface="Helvetica Neue"/>
                <a:cs typeface="Helvetica Neue"/>
              </a:defRPr>
            </a:pPr>
            <a:r>
              <a:rPr sz="2025" b="1">
                <a:solidFill>
                  <a:srgbClr val="126FCE"/>
                </a:solidFill>
                <a:latin typeface="Helvetica Neue"/>
                <a:ea typeface="Helvetica Neue"/>
                <a:cs typeface="Helvetica Neue"/>
              </a:rPr>
              <a:t>Team workspace</a:t>
            </a:r>
          </a:p>
        </p:txBody>
      </p:sp>
      <p:sp>
        <p:nvSpPr>
          <p:cNvPr id="8" name="">
            <a:extLst xmlns:a="http://schemas.openxmlformats.org/drawingml/2006/main">
              <a:ext uri="{FF2B5EF4-FFF2-40B4-BE49-F238E27FC236}">
                <a16:creationId xmlns:a16="http://schemas.microsoft.com/office/drawing/2014/main" id="{29849976-896E-48F3-8FF4-10B5E1151B39}"/>
              </a:ext>
            </a:extLst>
          </p:cNvPr>
          <p:cNvSpPr>
            <a:spLocks xmlns:a="http://schemas.openxmlformats.org/drawingml/2006/main" noGrp="1"/>
          </p:cNvSpPr>
          <p:nvPr/>
        </p:nvSpPr>
        <p:spPr>
          <a:xfrm xmlns:a="http://schemas.openxmlformats.org/drawingml/2006/main">
            <a:off x="8953500" y="5762625"/>
            <a:ext cx="261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3363"/>
                </a:solidFill>
                <a:latin typeface="Helvetica Neue"/>
                <a:ea typeface="Helvetica Neue"/>
                <a:cs typeface="Helvetica Neue"/>
              </a:defRPr>
            </a:pPr>
            <a:r>
              <a:rPr sz="1875" b="0">
                <a:solidFill>
                  <a:srgbClr val="123363"/>
                </a:solidFill>
                <a:latin typeface="Helvetica Neue"/>
                <a:ea typeface="Helvetica Neue"/>
                <a:cs typeface="Helvetica Neue"/>
              </a:rPr>
              <a:t>Keep prospect research together.</a:t>
            </a:r>
          </a:p>
        </p:txBody>
      </p:sp>
    </p:spTree>
    <p:extLst>
      <p:ext uri="{BB962C8B-B14F-4D97-AF65-F5344CB8AC3E}">
        <p14:creationId xmlns:p14="http://schemas.microsoft.com/office/powerpoint/2010/main" val="38162828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7863CEE-2475-45B2-ABB5-4B8FD2B27792}"/>
              </a:ext>
            </a:extLst>
          </p:cNvPr>
          <p:cNvSpPr>
            <a:spLocks xmlns:a="http://schemas.openxmlformats.org/drawingml/2006/main" noGrp="1"/>
          </p:cNvSpPr>
          <p:nvPr/>
        </p:nvSpPr>
        <p:spPr>
          <a:xfrm xmlns:a="http://schemas.openxmlformats.org/drawingml/2006/main">
            <a:off x="609600" y="457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0B214A"/>
                </a:solidFill>
                <a:latin typeface="Helvetica Neue"/>
                <a:ea typeface="Helvetica Neue"/>
                <a:cs typeface="Helvetica Neue"/>
              </a:defRPr>
            </a:pPr>
            <a:r>
              <a:rPr sz="3525" b="1">
                <a:solidFill>
                  <a:srgbClr val="0B214A"/>
                </a:solidFill>
                <a:latin typeface="Helvetica Neue"/>
                <a:ea typeface="Helvetica Neue"/>
                <a:cs typeface="Helvetica Neue"/>
              </a:rPr>
              <a:t>Conversation angles you can test</a:t>
            </a:r>
          </a:p>
        </p:txBody>
      </p:sp>
      <p:sp>
        <p:nvSpPr>
          <p:cNvPr id="2" name="">
            <a:extLst xmlns:a="http://schemas.openxmlformats.org/drawingml/2006/main">
              <a:ext uri="{FF2B5EF4-FFF2-40B4-BE49-F238E27FC236}">
                <a16:creationId xmlns:a16="http://schemas.microsoft.com/office/drawing/2014/main" id="{949CC28D-91EF-4A02-9703-A4D4217664DD}"/>
              </a:ext>
            </a:extLst>
          </p:cNvPr>
          <p:cNvSpPr>
            <a:spLocks xmlns:a="http://schemas.openxmlformats.org/drawingml/2006/main" noGrp="1"/>
          </p:cNvSpPr>
          <p:nvPr/>
        </p:nvSpPr>
        <p:spPr>
          <a:xfrm xmlns:a="http://schemas.openxmlformats.org/drawingml/2006/main">
            <a:off x="657225" y="1266825"/>
            <a:ext cx="1089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718B"/>
                </a:solidFill>
                <a:latin typeface="Helvetica Neue"/>
                <a:ea typeface="Helvetica Neue"/>
                <a:cs typeface="Helvetica Neue"/>
              </a:defRPr>
            </a:pPr>
            <a:r>
              <a:rPr sz="1875" b="0">
                <a:solidFill>
                  <a:srgbClr val="58718B"/>
                </a:solidFill>
                <a:latin typeface="Helvetica Neue"/>
                <a:ea typeface="Helvetica Neue"/>
                <a:cs typeface="Helvetica Neue"/>
              </a:rPr>
              <a:t>Vercel example: product detail</a:t>
            </a:r>
          </a:p>
        </p:txBody>
      </p:sp>
      <p:sp>
        <p:nvSpPr>
          <p:cNvPr id="3" name="">
            <a:extLst xmlns:a="http://schemas.openxmlformats.org/drawingml/2006/main">
              <a:ext uri="{FF2B5EF4-FFF2-40B4-BE49-F238E27FC236}">
                <a16:creationId xmlns:a16="http://schemas.microsoft.com/office/drawing/2014/main" id="{792B2997-B961-46E9-83A3-877776FE407A}"/>
              </a:ext>
            </a:extLst>
          </p:cNvPr>
          <p:cNvSpPr>
            <a:spLocks xmlns:a="http://schemas.openxmlformats.org/drawingml/2006/main" noGrp="1"/>
          </p:cNvSpPr>
          <p:nvPr/>
        </p:nvSpPr>
        <p:spPr>
          <a:xfrm xmlns:a="http://schemas.openxmlformats.org/drawingml/2006/main">
            <a:off x="657225" y="2085975"/>
            <a:ext cx="452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6FCE"/>
                </a:solidFill>
                <a:latin typeface="Helvetica Neue"/>
                <a:ea typeface="Helvetica Neue"/>
                <a:cs typeface="Helvetica Neue"/>
              </a:defRPr>
            </a:pPr>
            <a:r>
              <a:rPr sz="2025" b="1">
                <a:solidFill>
                  <a:srgbClr val="126FCE"/>
                </a:solidFill>
                <a:latin typeface="Helvetica Neue"/>
                <a:ea typeface="Helvetica Neue"/>
                <a:cs typeface="Helvetica Neue"/>
              </a:rPr>
              <a:t>Source claim</a:t>
            </a:r>
          </a:p>
        </p:txBody>
      </p:sp>
      <p:sp>
        <p:nvSpPr>
          <p:cNvPr id="4" name="">
            <a:extLst xmlns:a="http://schemas.openxmlformats.org/drawingml/2006/main">
              <a:ext uri="{FF2B5EF4-FFF2-40B4-BE49-F238E27FC236}">
                <a16:creationId xmlns:a16="http://schemas.microsoft.com/office/drawing/2014/main" id="{B9E67B4F-A628-4DCC-A2CD-E92B9747D68A}"/>
              </a:ext>
            </a:extLst>
          </p:cNvPr>
          <p:cNvSpPr>
            <a:spLocks xmlns:a="http://schemas.openxmlformats.org/drawingml/2006/main" noGrp="1"/>
          </p:cNvSpPr>
          <p:nvPr/>
        </p:nvSpPr>
        <p:spPr>
          <a:xfrm xmlns:a="http://schemas.openxmlformats.org/drawingml/2006/main">
            <a:off x="657225" y="2657475"/>
            <a:ext cx="44196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3363"/>
                </a:solidFill>
                <a:latin typeface="Helvetica Neue"/>
                <a:ea typeface="Helvetica Neue"/>
                <a:cs typeface="Helvetica Neue"/>
              </a:defRPr>
            </a:pPr>
            <a:r>
              <a:rPr sz="2100" b="0">
                <a:solidFill>
                  <a:srgbClr val="123363"/>
                </a:solidFill>
                <a:latin typeface="Helvetica Neue"/>
                <a:ea typeface="Helvetica Neue"/>
                <a:cs typeface="Helvetica Neue"/>
              </a:rPr>
              <a:t>Guillermo Rauch created Next.js and Vercel with a focus on developer experience (DX) to make the Web faster.</a:t>
            </a:r>
          </a:p>
        </p:txBody>
      </p:sp>
      <p:sp>
        <p:nvSpPr>
          <p:cNvPr id="5" name="">
            <a:extLst xmlns:a="http://schemas.openxmlformats.org/drawingml/2006/main">
              <a:ext uri="{FF2B5EF4-FFF2-40B4-BE49-F238E27FC236}">
                <a16:creationId xmlns:a16="http://schemas.microsoft.com/office/drawing/2014/main" id="{EE73F43A-AF2D-47A3-B91D-5D536385EC71}"/>
              </a:ext>
            </a:extLst>
          </p:cNvPr>
          <p:cNvSpPr>
            <a:spLocks xmlns:a="http://schemas.openxmlformats.org/drawingml/2006/main" noGrp="1"/>
          </p:cNvSpPr>
          <p:nvPr/>
        </p:nvSpPr>
        <p:spPr>
          <a:xfrm xmlns:a="http://schemas.openxmlformats.org/drawingml/2006/main">
            <a:off x="5905500" y="2085975"/>
            <a:ext cx="5638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6FCE"/>
                </a:solidFill>
                <a:latin typeface="Helvetica Neue"/>
                <a:ea typeface="Helvetica Neue"/>
                <a:cs typeface="Helvetica Neue"/>
              </a:defRPr>
            </a:pPr>
            <a:r>
              <a:rPr sz="2025" b="1">
                <a:solidFill>
                  <a:srgbClr val="126FCE"/>
                </a:solidFill>
                <a:latin typeface="Helvetica Neue"/>
                <a:ea typeface="Helvetica Neue"/>
                <a:cs typeface="Helvetica Neue"/>
              </a:rPr>
              <a:t>Why it could matter</a:t>
            </a:r>
          </a:p>
        </p:txBody>
      </p:sp>
      <p:sp>
        <p:nvSpPr>
          <p:cNvPr id="6" name="">
            <a:extLst xmlns:a="http://schemas.openxmlformats.org/drawingml/2006/main">
              <a:ext uri="{FF2B5EF4-FFF2-40B4-BE49-F238E27FC236}">
                <a16:creationId xmlns:a16="http://schemas.microsoft.com/office/drawing/2014/main" id="{3DD3735F-EB53-4637-BD14-CD8D91341E74}"/>
              </a:ext>
            </a:extLst>
          </p:cNvPr>
          <p:cNvSpPr>
            <a:spLocks xmlns:a="http://schemas.openxmlformats.org/drawingml/2006/main" noGrp="1"/>
          </p:cNvSpPr>
          <p:nvPr/>
        </p:nvSpPr>
        <p:spPr>
          <a:xfrm xmlns:a="http://schemas.openxmlformats.org/drawingml/2006/main">
            <a:off x="5905500" y="2657475"/>
            <a:ext cx="5562600"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3363"/>
                </a:solidFill>
                <a:latin typeface="Helvetica Neue"/>
                <a:ea typeface="Helvetica Neue"/>
                <a:cs typeface="Helvetica Neue"/>
              </a:defRPr>
            </a:pPr>
            <a:r>
              <a:rPr sz="1875" b="0">
                <a:solidFill>
                  <a:srgbClr val="123363"/>
                </a:solidFill>
                <a:latin typeface="Helvetica Neue"/>
                <a:ea typeface="Helvetica Neue"/>
                <a:cs typeface="Helvetica Neue"/>
              </a:rPr>
              <a:t>If the stated focus on developer experience to make the Web faster means Vercel actively tracks where new users struggle, then onboarding funnel analytics combining usage metrics and session feedback might help prioritize documentation and product fixes more effectively.</a:t>
            </a:r>
          </a:p>
        </p:txBody>
      </p:sp>
      <p:sp>
        <p:nvSpPr>
          <p:cNvPr id="7" name="">
            <a:extLst xmlns:a="http://schemas.openxmlformats.org/drawingml/2006/main">
              <a:ext uri="{FF2B5EF4-FFF2-40B4-BE49-F238E27FC236}">
                <a16:creationId xmlns:a16="http://schemas.microsoft.com/office/drawing/2014/main" id="{FA706C2D-6BA5-400B-9430-C98A0B31C10F}"/>
              </a:ext>
            </a:extLst>
          </p:cNvPr>
          <p:cNvSpPr>
            <a:spLocks xmlns:a="http://schemas.openxmlformats.org/drawingml/2006/main" noGrp="1"/>
          </p:cNvSpPr>
          <p:nvPr/>
        </p:nvSpPr>
        <p:spPr>
          <a:xfrm xmlns:a="http://schemas.openxmlformats.org/drawingml/2006/main">
            <a:off x="5905500" y="4848225"/>
            <a:ext cx="5562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8718B"/>
                </a:solidFill>
                <a:latin typeface="Helvetica Neue"/>
                <a:ea typeface="Helvetica Neue"/>
                <a:cs typeface="Helvetica Neue"/>
              </a:defRPr>
            </a:pPr>
            <a:r>
              <a:rPr sz="1575" b="0">
                <a:solidFill>
                  <a:srgbClr val="58718B"/>
                </a:solidFill>
                <a:latin typeface="Helvetica Neue"/>
                <a:ea typeface="Helvetica Neue"/>
                <a:cs typeface="Helvetica Neue"/>
              </a:rPr>
              <a:t>Hypothesis to validate</a:t>
            </a:r>
          </a:p>
        </p:txBody>
      </p:sp>
      <p:sp>
        <p:nvSpPr>
          <p:cNvPr id="8" name="">
            <a:extLst xmlns:a="http://schemas.openxmlformats.org/drawingml/2006/main">
              <a:ext uri="{FF2B5EF4-FFF2-40B4-BE49-F238E27FC236}">
                <a16:creationId xmlns:a16="http://schemas.microsoft.com/office/drawing/2014/main" id="{7A77A900-6897-477F-8089-1D0F18D56ACD}"/>
              </a:ext>
            </a:extLst>
          </p:cNvPr>
          <p:cNvSpPr>
            <a:spLocks xmlns:a="http://schemas.openxmlformats.org/drawingml/2006/main" noGrp="1"/>
          </p:cNvSpPr>
          <p:nvPr/>
        </p:nvSpPr>
        <p:spPr>
          <a:xfrm xmlns:a="http://schemas.openxmlformats.org/drawingml/2006/main">
            <a:off x="609600" y="5276850"/>
            <a:ext cx="10972800" cy="1352550"/>
          </a:xfrm>
          <a:prstGeom xmlns:a="http://schemas.openxmlformats.org/drawingml/2006/main" prst="rect">
            <a:avLst/>
          </a:prstGeom>
          <a:solidFill xmlns:a="http://schemas.openxmlformats.org/drawingml/2006/main">
            <a:srgbClr val="0B214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CC8A373-F186-4ACB-BAD6-EF992BE66607}"/>
              </a:ext>
            </a:extLst>
          </p:cNvPr>
          <p:cNvSpPr>
            <a:spLocks xmlns:a="http://schemas.openxmlformats.org/drawingml/2006/main" noGrp="1"/>
          </p:cNvSpPr>
          <p:nvPr/>
        </p:nvSpPr>
        <p:spPr>
          <a:xfrm xmlns:a="http://schemas.openxmlformats.org/drawingml/2006/main">
            <a:off x="790575" y="5410200"/>
            <a:ext cx="10534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63D7F2"/>
                </a:solidFill>
                <a:latin typeface="Helvetica Neue"/>
                <a:ea typeface="Helvetica Neue"/>
                <a:cs typeface="Helvetica Neue"/>
              </a:defRPr>
            </a:pPr>
            <a:r>
              <a:rPr sz="1575" b="1">
                <a:solidFill>
                  <a:srgbClr val="63D7F2"/>
                </a:solidFill>
                <a:latin typeface="Helvetica Neue"/>
                <a:ea typeface="Helvetica Neue"/>
                <a:cs typeface="Helvetica Neue"/>
              </a:rPr>
              <a:t>Ask in the conversation</a:t>
            </a:r>
          </a:p>
        </p:txBody>
      </p:sp>
      <p:sp>
        <p:nvSpPr>
          <p:cNvPr id="10" name="">
            <a:extLst xmlns:a="http://schemas.openxmlformats.org/drawingml/2006/main">
              <a:ext uri="{FF2B5EF4-FFF2-40B4-BE49-F238E27FC236}">
                <a16:creationId xmlns:a16="http://schemas.microsoft.com/office/drawing/2014/main" id="{C2DDC1BD-8060-4444-AC0E-785CCE3B69AB}"/>
              </a:ext>
            </a:extLst>
          </p:cNvPr>
          <p:cNvSpPr>
            <a:spLocks xmlns:a="http://schemas.openxmlformats.org/drawingml/2006/main" noGrp="1"/>
          </p:cNvSpPr>
          <p:nvPr/>
        </p:nvSpPr>
        <p:spPr>
          <a:xfrm xmlns:a="http://schemas.openxmlformats.org/drawingml/2006/main">
            <a:off x="790575" y="5810250"/>
            <a:ext cx="10467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Helvetica Neue"/>
                <a:ea typeface="Helvetica Neue"/>
                <a:cs typeface="Helvetica Neue"/>
              </a:defRPr>
            </a:pPr>
            <a:r>
              <a:rPr sz="2025" b="0">
                <a:solidFill>
                  <a:srgbClr val="FFFFFF"/>
                </a:solidFill>
                <a:latin typeface="Helvetica Neue"/>
                <a:ea typeface="Helvetica Neue"/>
                <a:cs typeface="Helvetica Neue"/>
              </a:rPr>
              <a:t>How do you currently identify which parts of the initial developer setup cause the most friction?</a:t>
            </a:r>
          </a:p>
        </p:txBody>
      </p:sp>
    </p:spTree>
    <p:extLst>
      <p:ext uri="{BB962C8B-B14F-4D97-AF65-F5344CB8AC3E}">
        <p14:creationId xmlns:p14="http://schemas.microsoft.com/office/powerpoint/2010/main" val="6198941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4C1C47D-CEA3-474E-A0A2-80768375263E}"/>
              </a:ext>
            </a:extLst>
          </p:cNvPr>
          <p:cNvSpPr>
            <a:spLocks xmlns:a="http://schemas.openxmlformats.org/drawingml/2006/main" noGrp="1"/>
          </p:cNvSpPr>
          <p:nvPr/>
        </p:nvSpPr>
        <p:spPr>
          <a:xfrm xmlns:a="http://schemas.openxmlformats.org/drawingml/2006/main">
            <a:off x="523875" y="419100"/>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0B214A"/>
                </a:solidFill>
                <a:latin typeface="Helvetica Neue"/>
                <a:ea typeface="Helvetica Neue"/>
                <a:cs typeface="Helvetica Neue"/>
              </a:defRPr>
            </a:pPr>
            <a:r>
              <a:rPr sz="3825" b="1">
                <a:solidFill>
                  <a:srgbClr val="0B214A"/>
                </a:solidFill>
                <a:latin typeface="Helvetica Neue"/>
                <a:ea typeface="Helvetica Neue"/>
                <a:cs typeface="Helvetica Neue"/>
              </a:rPr>
              <a:t>The evidence stays within reach</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d7bfa14ae8e45a0"/>
          <a:stretch xmlns:a="http://schemas.openxmlformats.org/drawingml/2006/main"/>
        </p:blipFill>
        <p:spPr>
          <a:xfrm xmlns:a="http://schemas.openxmlformats.org/drawingml/2006/main">
            <a:off x="504825" y="1658077"/>
            <a:ext cx="7591425" cy="419907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8D65A8C-22FB-4D55-9E22-3C4C793A09F1}"/>
              </a:ext>
            </a:extLst>
          </p:cNvPr>
          <p:cNvSpPr>
            <a:spLocks xmlns:a="http://schemas.openxmlformats.org/drawingml/2006/main" noGrp="1"/>
          </p:cNvSpPr>
          <p:nvPr/>
        </p:nvSpPr>
        <p:spPr>
          <a:xfrm xmlns:a="http://schemas.openxmlformats.org/drawingml/2006/main">
            <a:off x="8429625" y="1704975"/>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6FCE"/>
                </a:solidFill>
                <a:latin typeface="Helvetica Neue"/>
                <a:ea typeface="Helvetica Neue"/>
                <a:cs typeface="Helvetica Neue"/>
              </a:defRPr>
            </a:pPr>
            <a:r>
              <a:rPr sz="2175" b="1">
                <a:solidFill>
                  <a:srgbClr val="126FCE"/>
                </a:solidFill>
                <a:latin typeface="Helvetica Neue"/>
                <a:ea typeface="Helvetica Neue"/>
                <a:cs typeface="Helvetica Neue"/>
              </a:rPr>
              <a:t>Trace each signal</a:t>
            </a:r>
          </a:p>
        </p:txBody>
      </p:sp>
      <p:sp>
        <p:nvSpPr>
          <p:cNvPr id="4" name="">
            <a:extLst xmlns:a="http://schemas.openxmlformats.org/drawingml/2006/main">
              <a:ext uri="{FF2B5EF4-FFF2-40B4-BE49-F238E27FC236}">
                <a16:creationId xmlns:a16="http://schemas.microsoft.com/office/drawing/2014/main" id="{B8D1E0BD-D389-4AC8-BC91-4C8003E11278}"/>
              </a:ext>
            </a:extLst>
          </p:cNvPr>
          <p:cNvSpPr>
            <a:spLocks xmlns:a="http://schemas.openxmlformats.org/drawingml/2006/main" noGrp="1"/>
          </p:cNvSpPr>
          <p:nvPr/>
        </p:nvSpPr>
        <p:spPr>
          <a:xfrm xmlns:a="http://schemas.openxmlformats.org/drawingml/2006/main">
            <a:off x="8429625" y="2447925"/>
            <a:ext cx="3152775"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363"/>
                </a:solidFill>
                <a:latin typeface="Helvetica Neue"/>
                <a:ea typeface="Helvetica Neue"/>
                <a:cs typeface="Helvetica Neue"/>
              </a:defRPr>
            </a:pPr>
            <a:r>
              <a:rPr sz="2025" b="0">
                <a:solidFill>
                  <a:srgbClr val="123363"/>
                </a:solidFill>
                <a:latin typeface="Helvetica Neue"/>
                <a:ea typeface="Helvetica Neue"/>
                <a:cs typeface="Helvetica Neue"/>
              </a:rPr>
              <a:t>Key signals must match a stored claim and its source URL.</a:t>
            </a:r>
          </a:p>
        </p:txBody>
      </p:sp>
      <p:sp>
        <p:nvSpPr>
          <p:cNvPr id="5" name="">
            <a:extLst xmlns:a="http://schemas.openxmlformats.org/drawingml/2006/main">
              <a:ext uri="{FF2B5EF4-FFF2-40B4-BE49-F238E27FC236}">
                <a16:creationId xmlns:a16="http://schemas.microsoft.com/office/drawing/2014/main" id="{1C2A85CC-DC6B-49E1-9DC9-04E9C5980718}"/>
              </a:ext>
            </a:extLst>
          </p:cNvPr>
          <p:cNvSpPr>
            <a:spLocks xmlns:a="http://schemas.openxmlformats.org/drawingml/2006/main" noGrp="1"/>
          </p:cNvSpPr>
          <p:nvPr/>
        </p:nvSpPr>
        <p:spPr>
          <a:xfrm xmlns:a="http://schemas.openxmlformats.org/drawingml/2006/main">
            <a:off x="8429625" y="4210050"/>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6FCE"/>
                </a:solidFill>
                <a:latin typeface="Helvetica Neue"/>
                <a:ea typeface="Helvetica Neue"/>
                <a:cs typeface="Helvetica Neue"/>
              </a:defRPr>
            </a:pPr>
            <a:r>
              <a:rPr sz="2175" b="1">
                <a:solidFill>
                  <a:srgbClr val="126FCE"/>
                </a:solidFill>
                <a:latin typeface="Helvetica Neue"/>
                <a:ea typeface="Helvetica Neue"/>
                <a:cs typeface="Helvetica Neue"/>
              </a:rPr>
              <a:t>Check the gaps</a:t>
            </a:r>
          </a:p>
        </p:txBody>
      </p:sp>
      <p:sp>
        <p:nvSpPr>
          <p:cNvPr id="6" name="">
            <a:extLst xmlns:a="http://schemas.openxmlformats.org/drawingml/2006/main">
              <a:ext uri="{FF2B5EF4-FFF2-40B4-BE49-F238E27FC236}">
                <a16:creationId xmlns:a16="http://schemas.microsoft.com/office/drawing/2014/main" id="{214D6593-7AB4-469B-8F0D-CD556D11701D}"/>
              </a:ext>
            </a:extLst>
          </p:cNvPr>
          <p:cNvSpPr>
            <a:spLocks xmlns:a="http://schemas.openxmlformats.org/drawingml/2006/main" noGrp="1"/>
          </p:cNvSpPr>
          <p:nvPr/>
        </p:nvSpPr>
        <p:spPr>
          <a:xfrm xmlns:a="http://schemas.openxmlformats.org/drawingml/2006/main">
            <a:off x="8429625" y="4914900"/>
            <a:ext cx="31432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3363"/>
                </a:solidFill>
                <a:latin typeface="Helvetica Neue"/>
                <a:ea typeface="Helvetica Neue"/>
                <a:cs typeface="Helvetica Neue"/>
              </a:defRPr>
            </a:pPr>
            <a:r>
              <a:rPr sz="2025" b="0">
                <a:solidFill>
                  <a:srgbClr val="123363"/>
                </a:solidFill>
                <a:latin typeface="Helvetica Neue"/>
                <a:ea typeface="Helvetica Neue"/>
                <a:cs typeface="Helvetica Neue"/>
              </a:rPr>
              <a:t>Review freshness and contradictions before using the brief.</a:t>
            </a:r>
          </a:p>
        </p:txBody>
      </p:sp>
      <p:sp>
        <p:nvSpPr>
          <p:cNvPr id="7" name="">
            <a:extLst xmlns:a="http://schemas.openxmlformats.org/drawingml/2006/main">
              <a:ext uri="{FF2B5EF4-FFF2-40B4-BE49-F238E27FC236}">
                <a16:creationId xmlns:a16="http://schemas.microsoft.com/office/drawing/2014/main" id="{BAC76CFB-D60A-4ADE-9133-988383E9C840}"/>
              </a:ext>
            </a:extLst>
          </p:cNvPr>
          <p:cNvSpPr>
            <a:spLocks xmlns:a="http://schemas.openxmlformats.org/drawingml/2006/main" noGrp="1"/>
          </p:cNvSpPr>
          <p:nvPr/>
        </p:nvSpPr>
        <p:spPr>
          <a:xfrm xmlns:a="http://schemas.openxmlformats.org/drawingml/2006/main">
            <a:off x="581025" y="638175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8718B"/>
                </a:solidFill>
                <a:latin typeface="Helvetica Neue"/>
                <a:ea typeface="Helvetica Neue"/>
                <a:cs typeface="Helvetica Neue"/>
              </a:defRPr>
            </a:pPr>
            <a:r>
              <a:rPr sz="1500" b="0">
                <a:solidFill>
                  <a:srgbClr val="58718B"/>
                </a:solidFill>
                <a:latin typeface="Helvetica Neue"/>
                <a:ea typeface="Helvetica Neue"/>
                <a:cs typeface="Helvetica Neue"/>
              </a:rPr>
              <a:t>AI-generated demo research. Source links make claims traceable, not guaranteed.</a:t>
            </a:r>
          </a:p>
        </p:txBody>
      </p:sp>
    </p:spTree>
    <p:extLst>
      <p:ext uri="{BB962C8B-B14F-4D97-AF65-F5344CB8AC3E}">
        <p14:creationId xmlns:p14="http://schemas.microsoft.com/office/powerpoint/2010/main" val="980344414"/>
      </p:ext>
    </p:extLst>
  </p:cSld>
</p:sld>
</file>

<file path=ppt/slides/slide8.xml><?xml version="1.0" encoding="utf-8"?>
<p:sld xmlns:p="http://schemas.openxmlformats.org/presentationml/2006/main">
  <p:cSld>
    <p:bg>
      <p:bgPr>
        <a:solidFill xmlns:a="http://schemas.openxmlformats.org/drawingml/2006/main">
          <a:srgbClr val="EDF5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34D2A5B-7EA8-4D91-9715-CB1FBE1AE3E0}"/>
              </a:ext>
            </a:extLst>
          </p:cNvPr>
          <p:cNvSpPr>
            <a:spLocks xmlns:a="http://schemas.openxmlformats.org/drawingml/2006/main" noGrp="1"/>
          </p:cNvSpPr>
          <p:nvPr/>
        </p:nvSpPr>
        <p:spPr>
          <a:xfrm xmlns:a="http://schemas.openxmlformats.org/drawingml/2006/main">
            <a:off x="533400" y="438150"/>
            <a:ext cx="1095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0B214A"/>
                </a:solidFill>
                <a:latin typeface="Helvetica Neue"/>
                <a:ea typeface="Helvetica Neue"/>
                <a:cs typeface="Helvetica Neue"/>
              </a:defRPr>
            </a:pPr>
            <a:r>
              <a:rPr sz="3975" b="1">
                <a:solidFill>
                  <a:srgbClr val="0B214A"/>
                </a:solidFill>
                <a:latin typeface="Helvetica Neue"/>
                <a:ea typeface="Helvetica Neue"/>
                <a:cs typeface="Helvetica Neue"/>
              </a:rPr>
              <a:t>Architecture</a:t>
            </a:r>
          </a:p>
        </p:txBody>
      </p:sp>
      <p:sp>
        <p:nvSpPr>
          <p:cNvPr id="2" name="">
            <a:extLst xmlns:a="http://schemas.openxmlformats.org/drawingml/2006/main">
              <a:ext uri="{FF2B5EF4-FFF2-40B4-BE49-F238E27FC236}">
                <a16:creationId xmlns:a16="http://schemas.microsoft.com/office/drawing/2014/main" id="{BDA3959E-B73C-40AF-A4BD-D27394A7C4FD}"/>
              </a:ext>
            </a:extLst>
          </p:cNvPr>
          <p:cNvSpPr>
            <a:spLocks xmlns:a="http://schemas.openxmlformats.org/drawingml/2006/main" noGrp="1"/>
          </p:cNvSpPr>
          <p:nvPr/>
        </p:nvSpPr>
        <p:spPr>
          <a:xfrm xmlns:a="http://schemas.openxmlformats.org/drawingml/2006/main">
            <a:off x="581025" y="12477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8718B"/>
                </a:solidFill>
                <a:latin typeface="Helvetica Neue"/>
                <a:ea typeface="Helvetica Neue"/>
                <a:cs typeface="Helvetica Neue"/>
              </a:defRPr>
            </a:pPr>
            <a:r>
              <a:rPr sz="2175" b="0">
                <a:solidFill>
                  <a:srgbClr val="58718B"/>
                </a:solidFill>
                <a:latin typeface="Helvetica Neue"/>
                <a:ea typeface="Helvetica Neue"/>
                <a:cs typeface="Helvetica Neue"/>
              </a:rPr>
              <a:t>A responsive app, with research running in the background</a:t>
            </a:r>
          </a:p>
        </p:txBody>
      </p:sp>
      <p:sp>
        <p:nvSpPr>
          <p:cNvPr id="3" name="">
            <a:extLst xmlns:a="http://schemas.openxmlformats.org/drawingml/2006/main">
              <a:ext uri="{FF2B5EF4-FFF2-40B4-BE49-F238E27FC236}">
                <a16:creationId xmlns:a16="http://schemas.microsoft.com/office/drawing/2014/main" id="{6FA01A71-8254-467B-9A05-D907B86B8C91}"/>
              </a:ext>
            </a:extLst>
          </p:cNvPr>
          <p:cNvSpPr>
            <a:spLocks xmlns:a="http://schemas.openxmlformats.org/drawingml/2006/main" noGrp="1"/>
          </p:cNvSpPr>
          <p:nvPr/>
        </p:nvSpPr>
        <p:spPr>
          <a:xfrm xmlns:a="http://schemas.openxmlformats.org/drawingml/2006/main">
            <a:off x="571500" y="2466975"/>
            <a:ext cx="2295525" cy="1409700"/>
          </a:xfrm>
          <a:prstGeom xmlns:a="http://schemas.openxmlformats.org/drawingml/2006/main" prst="rect">
            <a:avLst/>
          </a:prstGeom>
          <a:solidFill xmlns:a="http://schemas.openxmlformats.org/drawingml/2006/main">
            <a:srgbClr val="FFFFFF"/>
          </a:solidFill>
          <a:ln xmlns:a="http://schemas.openxmlformats.org/drawingml/2006/main" w="13335">
            <a:solidFill>
              <a:srgbClr val="126FCE"/>
            </a:solidFill>
          </a:ln>
        </p:spPr>
      </p:sp>
      <p:sp>
        <p:nvSpPr>
          <p:cNvPr id="4" name="">
            <a:extLst xmlns:a="http://schemas.openxmlformats.org/drawingml/2006/main">
              <a:ext uri="{FF2B5EF4-FFF2-40B4-BE49-F238E27FC236}">
                <a16:creationId xmlns:a16="http://schemas.microsoft.com/office/drawing/2014/main" id="{103007D9-3262-4D52-935A-984CE5A53EF2}"/>
              </a:ext>
            </a:extLst>
          </p:cNvPr>
          <p:cNvSpPr>
            <a:spLocks xmlns:a="http://schemas.openxmlformats.org/drawingml/2006/main" noGrp="1"/>
          </p:cNvSpPr>
          <p:nvPr/>
        </p:nvSpPr>
        <p:spPr>
          <a:xfrm xmlns:a="http://schemas.openxmlformats.org/drawingml/2006/main">
            <a:off x="647700" y="2628900"/>
            <a:ext cx="21431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3363"/>
                </a:solidFill>
                <a:latin typeface="Helvetica Neue"/>
                <a:ea typeface="Helvetica Neue"/>
                <a:cs typeface="Helvetica Neue"/>
              </a:defRPr>
            </a:pPr>
            <a:r>
              <a:rPr sz="1800" b="1">
                <a:solidFill>
                  <a:srgbClr val="123363"/>
                </a:solidFill>
                <a:latin typeface="Helvetica Neue"/>
                <a:ea typeface="Helvetica Neue"/>
                <a:cs typeface="Helvetica Neue"/>
              </a:rPr>
              <a:t>Web dashboard</a:t>
            </a:r>
          </a:p>
          <a:p xmlns:a="http://schemas.openxmlformats.org/drawingml/2006/main">
            <a:pPr>
              <a:defRPr sz="1800" b="1">
                <a:solidFill>
                  <a:srgbClr val="123363"/>
                </a:solidFill>
                <a:latin typeface="Helvetica Neue"/>
                <a:ea typeface="Helvetica Neue"/>
                <a:cs typeface="Helvetica Neue"/>
              </a:defRPr>
            </a:pPr>
            <a:r>
              <a:rPr sz="1800" b="1">
                <a:solidFill>
                  <a:srgbClr val="123363"/>
                </a:solidFill>
                <a:latin typeface="Helvetica Neue"/>
                <a:ea typeface="Helvetica Neue"/>
                <a:cs typeface="Helvetica Neue"/>
              </a:rPr>
              <a:t>Next.js</a:t>
            </a:r>
          </a:p>
        </p:txBody>
      </p:sp>
      <p:sp>
        <p:nvSpPr>
          <p:cNvPr id="5" name="">
            <a:extLst xmlns:a="http://schemas.openxmlformats.org/drawingml/2006/main">
              <a:ext uri="{FF2B5EF4-FFF2-40B4-BE49-F238E27FC236}">
                <a16:creationId xmlns:a16="http://schemas.microsoft.com/office/drawing/2014/main" id="{1B63651E-979B-4235-A233-4752FBE68B1F}"/>
              </a:ext>
            </a:extLst>
          </p:cNvPr>
          <p:cNvSpPr>
            <a:spLocks xmlns:a="http://schemas.openxmlformats.org/drawingml/2006/main" noGrp="1"/>
          </p:cNvSpPr>
          <p:nvPr/>
        </p:nvSpPr>
        <p:spPr>
          <a:xfrm xmlns:a="http://schemas.openxmlformats.org/drawingml/2006/main">
            <a:off x="3438525" y="2466975"/>
            <a:ext cx="2295525" cy="1409700"/>
          </a:xfrm>
          <a:prstGeom xmlns:a="http://schemas.openxmlformats.org/drawingml/2006/main" prst="rect">
            <a:avLst/>
          </a:prstGeom>
          <a:solidFill xmlns:a="http://schemas.openxmlformats.org/drawingml/2006/main">
            <a:srgbClr val="FFFFFF"/>
          </a:solidFill>
          <a:ln xmlns:a="http://schemas.openxmlformats.org/drawingml/2006/main" w="13335">
            <a:solidFill>
              <a:srgbClr val="126FCE"/>
            </a:solidFill>
          </a:ln>
        </p:spPr>
      </p:sp>
      <p:sp>
        <p:nvSpPr>
          <p:cNvPr id="6" name="">
            <a:extLst xmlns:a="http://schemas.openxmlformats.org/drawingml/2006/main">
              <a:ext uri="{FF2B5EF4-FFF2-40B4-BE49-F238E27FC236}">
                <a16:creationId xmlns:a16="http://schemas.microsoft.com/office/drawing/2014/main" id="{DEA2E039-5F8B-4DB1-A501-15BC02D56002}"/>
              </a:ext>
            </a:extLst>
          </p:cNvPr>
          <p:cNvSpPr>
            <a:spLocks xmlns:a="http://schemas.openxmlformats.org/drawingml/2006/main" noGrp="1"/>
          </p:cNvSpPr>
          <p:nvPr/>
        </p:nvSpPr>
        <p:spPr>
          <a:xfrm xmlns:a="http://schemas.openxmlformats.org/drawingml/2006/main">
            <a:off x="3514725" y="2628900"/>
            <a:ext cx="21431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3363"/>
                </a:solidFill>
                <a:latin typeface="Helvetica Neue"/>
                <a:ea typeface="Helvetica Neue"/>
                <a:cs typeface="Helvetica Neue"/>
              </a:defRPr>
            </a:pPr>
            <a:r>
              <a:rPr sz="1800" b="1">
                <a:solidFill>
                  <a:srgbClr val="123363"/>
                </a:solidFill>
                <a:latin typeface="Helvetica Neue"/>
                <a:ea typeface="Helvetica Neue"/>
                <a:cs typeface="Helvetica Neue"/>
              </a:rPr>
              <a:t>API and accounts</a:t>
            </a:r>
          </a:p>
          <a:p xmlns:a="http://schemas.openxmlformats.org/drawingml/2006/main">
            <a:pPr>
              <a:defRPr sz="1800" b="1">
                <a:solidFill>
                  <a:srgbClr val="123363"/>
                </a:solidFill>
                <a:latin typeface="Helvetica Neue"/>
                <a:ea typeface="Helvetica Neue"/>
                <a:cs typeface="Helvetica Neue"/>
              </a:defRPr>
            </a:pPr>
            <a:r>
              <a:rPr sz="1800" b="1">
                <a:solidFill>
                  <a:srgbClr val="123363"/>
                </a:solidFill>
                <a:latin typeface="Helvetica Neue"/>
                <a:ea typeface="Helvetica Neue"/>
                <a:cs typeface="Helvetica Neue"/>
              </a:rPr>
              <a:t>NestJS</a:t>
            </a:r>
          </a:p>
        </p:txBody>
      </p:sp>
      <p:sp>
        <p:nvSpPr>
          <p:cNvPr id="7" name="">
            <a:extLst xmlns:a="http://schemas.openxmlformats.org/drawingml/2006/main">
              <a:ext uri="{FF2B5EF4-FFF2-40B4-BE49-F238E27FC236}">
                <a16:creationId xmlns:a16="http://schemas.microsoft.com/office/drawing/2014/main" id="{4B53BC19-E947-4569-99FD-4D263C5C522D}"/>
              </a:ext>
            </a:extLst>
          </p:cNvPr>
          <p:cNvSpPr>
            <a:spLocks xmlns:a="http://schemas.openxmlformats.org/drawingml/2006/main" noGrp="1"/>
          </p:cNvSpPr>
          <p:nvPr/>
        </p:nvSpPr>
        <p:spPr>
          <a:xfrm xmlns:a="http://schemas.openxmlformats.org/drawingml/2006/main">
            <a:off x="6296025" y="2466975"/>
            <a:ext cx="2295525" cy="1409700"/>
          </a:xfrm>
          <a:prstGeom xmlns:a="http://schemas.openxmlformats.org/drawingml/2006/main" prst="rect">
            <a:avLst/>
          </a:prstGeom>
          <a:solidFill xmlns:a="http://schemas.openxmlformats.org/drawingml/2006/main">
            <a:srgbClr val="0B214A"/>
          </a:solidFill>
          <a:ln xmlns:a="http://schemas.openxmlformats.org/drawingml/2006/main" w="13335">
            <a:solidFill>
              <a:srgbClr val="0B214A"/>
            </a:solidFill>
          </a:ln>
        </p:spPr>
      </p:sp>
      <p:sp>
        <p:nvSpPr>
          <p:cNvPr id="8" name="">
            <a:extLst xmlns:a="http://schemas.openxmlformats.org/drawingml/2006/main">
              <a:ext uri="{FF2B5EF4-FFF2-40B4-BE49-F238E27FC236}">
                <a16:creationId xmlns:a16="http://schemas.microsoft.com/office/drawing/2014/main" id="{6DF7742A-6FB3-4E78-BDD3-66DA40272B33}"/>
              </a:ext>
            </a:extLst>
          </p:cNvPr>
          <p:cNvSpPr>
            <a:spLocks xmlns:a="http://schemas.openxmlformats.org/drawingml/2006/main" noGrp="1"/>
          </p:cNvSpPr>
          <p:nvPr/>
        </p:nvSpPr>
        <p:spPr>
          <a:xfrm xmlns:a="http://schemas.openxmlformats.org/drawingml/2006/main">
            <a:off x="6372225" y="2628900"/>
            <a:ext cx="21431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Data and job queue</a:t>
            </a:r>
          </a:p>
          <a:p xmlns:a="http://schemas.openxmlformats.org/drawingml/2006/main">
            <a:pP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PostgreSQL</a:t>
            </a:r>
          </a:p>
        </p:txBody>
      </p:sp>
      <p:sp>
        <p:nvSpPr>
          <p:cNvPr id="9" name="">
            <a:extLst xmlns:a="http://schemas.openxmlformats.org/drawingml/2006/main">
              <a:ext uri="{FF2B5EF4-FFF2-40B4-BE49-F238E27FC236}">
                <a16:creationId xmlns:a16="http://schemas.microsoft.com/office/drawing/2014/main" id="{A9A8B23D-B613-4E40-BC37-4CFD05C592FB}"/>
              </a:ext>
            </a:extLst>
          </p:cNvPr>
          <p:cNvSpPr>
            <a:spLocks xmlns:a="http://schemas.openxmlformats.org/drawingml/2006/main" noGrp="1"/>
          </p:cNvSpPr>
          <p:nvPr/>
        </p:nvSpPr>
        <p:spPr>
          <a:xfrm xmlns:a="http://schemas.openxmlformats.org/drawingml/2006/main">
            <a:off x="9163050" y="2466975"/>
            <a:ext cx="2295525" cy="1409700"/>
          </a:xfrm>
          <a:prstGeom xmlns:a="http://schemas.openxmlformats.org/drawingml/2006/main" prst="rect">
            <a:avLst/>
          </a:prstGeom>
          <a:solidFill xmlns:a="http://schemas.openxmlformats.org/drawingml/2006/main">
            <a:srgbClr val="0B214A"/>
          </a:solidFill>
          <a:ln xmlns:a="http://schemas.openxmlformats.org/drawingml/2006/main" w="13335">
            <a:solidFill>
              <a:srgbClr val="0B214A"/>
            </a:solidFill>
          </a:ln>
        </p:spPr>
      </p:sp>
      <p:sp>
        <p:nvSpPr>
          <p:cNvPr id="10" name="">
            <a:extLst xmlns:a="http://schemas.openxmlformats.org/drawingml/2006/main">
              <a:ext uri="{FF2B5EF4-FFF2-40B4-BE49-F238E27FC236}">
                <a16:creationId xmlns:a16="http://schemas.microsoft.com/office/drawing/2014/main" id="{7DBD7BCC-D27E-4339-93E6-43D2B03A6D10}"/>
              </a:ext>
            </a:extLst>
          </p:cNvPr>
          <p:cNvSpPr>
            <a:spLocks xmlns:a="http://schemas.openxmlformats.org/drawingml/2006/main" noGrp="1"/>
          </p:cNvSpPr>
          <p:nvPr/>
        </p:nvSpPr>
        <p:spPr>
          <a:xfrm xmlns:a="http://schemas.openxmlformats.org/drawingml/2006/main">
            <a:off x="9239250" y="2628900"/>
            <a:ext cx="21431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Research worker</a:t>
            </a:r>
          </a:p>
          <a:p xmlns:a="http://schemas.openxmlformats.org/drawingml/2006/main">
            <a:pP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Python + LangGraph</a:t>
            </a:r>
          </a:p>
        </p:txBody>
      </p:sp>
      <p:sp>
        <p:nvSpPr>
          <p:cNvPr id="11" name="">
            <a:extLst xmlns:a="http://schemas.openxmlformats.org/drawingml/2006/main">
              <a:ext uri="{FF2B5EF4-FFF2-40B4-BE49-F238E27FC236}">
                <a16:creationId xmlns:a16="http://schemas.microsoft.com/office/drawing/2014/main" id="{7F37F7E5-FCB0-4FBD-8ED1-731BCC5CFA62}"/>
              </a:ext>
            </a:extLst>
          </p:cNvPr>
          <p:cNvSpPr>
            <a:spLocks xmlns:a="http://schemas.openxmlformats.org/drawingml/2006/main" noGrp="1"/>
          </p:cNvSpPr>
          <p:nvPr/>
        </p:nvSpPr>
        <p:spPr>
          <a:xfrm xmlns:a="http://schemas.openxmlformats.org/drawingml/2006/main">
            <a:off x="3438525" y="4676775"/>
            <a:ext cx="2295525" cy="1409700"/>
          </a:xfrm>
          <a:prstGeom xmlns:a="http://schemas.openxmlformats.org/drawingml/2006/main" prst="rect">
            <a:avLst/>
          </a:prstGeom>
          <a:solidFill xmlns:a="http://schemas.openxmlformats.org/drawingml/2006/main">
            <a:srgbClr val="FFFFFF"/>
          </a:solidFill>
          <a:ln xmlns:a="http://schemas.openxmlformats.org/drawingml/2006/main" w="13335">
            <a:solidFill>
              <a:srgbClr val="126FCE"/>
            </a:solidFill>
          </a:ln>
        </p:spPr>
      </p:sp>
      <p:sp>
        <p:nvSpPr>
          <p:cNvPr id="12" name="">
            <a:extLst xmlns:a="http://schemas.openxmlformats.org/drawingml/2006/main">
              <a:ext uri="{FF2B5EF4-FFF2-40B4-BE49-F238E27FC236}">
                <a16:creationId xmlns:a16="http://schemas.microsoft.com/office/drawing/2014/main" id="{3959C943-5E20-4549-A89B-41EDF1B9BB8D}"/>
              </a:ext>
            </a:extLst>
          </p:cNvPr>
          <p:cNvSpPr>
            <a:spLocks xmlns:a="http://schemas.openxmlformats.org/drawingml/2006/main" noGrp="1"/>
          </p:cNvSpPr>
          <p:nvPr/>
        </p:nvSpPr>
        <p:spPr>
          <a:xfrm xmlns:a="http://schemas.openxmlformats.org/drawingml/2006/main">
            <a:off x="3514725" y="4838700"/>
            <a:ext cx="21431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3363"/>
                </a:solidFill>
                <a:latin typeface="Helvetica Neue"/>
                <a:ea typeface="Helvetica Neue"/>
                <a:cs typeface="Helvetica Neue"/>
              </a:defRPr>
            </a:pPr>
            <a:r>
              <a:rPr sz="1800" b="1">
                <a:solidFill>
                  <a:srgbClr val="123363"/>
                </a:solidFill>
                <a:latin typeface="Helvetica Neue"/>
                <a:ea typeface="Helvetica Neue"/>
                <a:cs typeface="Helvetica Neue"/>
              </a:rPr>
              <a:t>Public discovery</a:t>
            </a:r>
          </a:p>
          <a:p xmlns:a="http://schemas.openxmlformats.org/drawingml/2006/main">
            <a:pPr>
              <a:defRPr sz="1800" b="1">
                <a:solidFill>
                  <a:srgbClr val="123363"/>
                </a:solidFill>
                <a:latin typeface="Helvetica Neue"/>
                <a:ea typeface="Helvetica Neue"/>
                <a:cs typeface="Helvetica Neue"/>
              </a:defRPr>
            </a:pPr>
            <a:r>
              <a:rPr sz="1800" b="1">
                <a:solidFill>
                  <a:srgbClr val="123363"/>
                </a:solidFill>
                <a:latin typeface="Helvetica Neue"/>
                <a:ea typeface="Helvetica Neue"/>
                <a:cs typeface="Helvetica Neue"/>
              </a:rPr>
              <a:t>Tavily</a:t>
            </a:r>
          </a:p>
        </p:txBody>
      </p:sp>
      <p:sp>
        <p:nvSpPr>
          <p:cNvPr id="13" name="">
            <a:extLst xmlns:a="http://schemas.openxmlformats.org/drawingml/2006/main">
              <a:ext uri="{FF2B5EF4-FFF2-40B4-BE49-F238E27FC236}">
                <a16:creationId xmlns:a16="http://schemas.microsoft.com/office/drawing/2014/main" id="{ABA4EC4A-FE72-4328-B6E6-AF54E148B7D8}"/>
              </a:ext>
            </a:extLst>
          </p:cNvPr>
          <p:cNvSpPr>
            <a:spLocks xmlns:a="http://schemas.openxmlformats.org/drawingml/2006/main" noGrp="1"/>
          </p:cNvSpPr>
          <p:nvPr/>
        </p:nvSpPr>
        <p:spPr>
          <a:xfrm xmlns:a="http://schemas.openxmlformats.org/drawingml/2006/main">
            <a:off x="9163050" y="4676775"/>
            <a:ext cx="2295525" cy="1409700"/>
          </a:xfrm>
          <a:prstGeom xmlns:a="http://schemas.openxmlformats.org/drawingml/2006/main" prst="rect">
            <a:avLst/>
          </a:prstGeom>
          <a:solidFill xmlns:a="http://schemas.openxmlformats.org/drawingml/2006/main">
            <a:srgbClr val="FFFFFF"/>
          </a:solidFill>
          <a:ln xmlns:a="http://schemas.openxmlformats.org/drawingml/2006/main" w="13335">
            <a:solidFill>
              <a:srgbClr val="126FCE"/>
            </a:solidFill>
          </a:ln>
        </p:spPr>
      </p:sp>
      <p:sp>
        <p:nvSpPr>
          <p:cNvPr id="14" name="">
            <a:extLst xmlns:a="http://schemas.openxmlformats.org/drawingml/2006/main">
              <a:ext uri="{FF2B5EF4-FFF2-40B4-BE49-F238E27FC236}">
                <a16:creationId xmlns:a16="http://schemas.microsoft.com/office/drawing/2014/main" id="{6A1F2D27-A22D-41F2-BA34-260E752E896B}"/>
              </a:ext>
            </a:extLst>
          </p:cNvPr>
          <p:cNvSpPr>
            <a:spLocks xmlns:a="http://schemas.openxmlformats.org/drawingml/2006/main" noGrp="1"/>
          </p:cNvSpPr>
          <p:nvPr/>
        </p:nvSpPr>
        <p:spPr>
          <a:xfrm xmlns:a="http://schemas.openxmlformats.org/drawingml/2006/main">
            <a:off x="9239250" y="4838700"/>
            <a:ext cx="21431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3363"/>
                </a:solidFill>
                <a:latin typeface="Helvetica Neue"/>
                <a:ea typeface="Helvetica Neue"/>
                <a:cs typeface="Helvetica Neue"/>
              </a:defRPr>
            </a:pPr>
            <a:r>
              <a:rPr sz="1800" b="1">
                <a:solidFill>
                  <a:srgbClr val="123363"/>
                </a:solidFill>
                <a:latin typeface="Helvetica Neue"/>
                <a:ea typeface="Helvetica Neue"/>
                <a:cs typeface="Helvetica Neue"/>
              </a:rPr>
              <a:t>AI inference</a:t>
            </a:r>
          </a:p>
          <a:p xmlns:a="http://schemas.openxmlformats.org/drawingml/2006/main">
            <a:pPr>
              <a:defRPr sz="1800" b="1">
                <a:solidFill>
                  <a:srgbClr val="123363"/>
                </a:solidFill>
                <a:latin typeface="Helvetica Neue"/>
                <a:ea typeface="Helvetica Neue"/>
                <a:cs typeface="Helvetica Neue"/>
              </a:defRPr>
            </a:pPr>
            <a:r>
              <a:rPr sz="1800" b="1">
                <a:solidFill>
                  <a:srgbClr val="123363"/>
                </a:solidFill>
                <a:latin typeface="Helvetica Neue"/>
                <a:ea typeface="Helvetica Neue"/>
                <a:cs typeface="Helvetica Neue"/>
              </a:rPr>
              <a:t>Qwen</a:t>
            </a:r>
          </a:p>
          <a:p xmlns:a="http://schemas.openxmlformats.org/drawingml/2006/main">
            <a:pPr>
              <a:defRPr sz="1800" b="1">
                <a:solidFill>
                  <a:srgbClr val="123363"/>
                </a:solidFill>
                <a:latin typeface="Helvetica Neue"/>
                <a:ea typeface="Helvetica Neue"/>
                <a:cs typeface="Helvetica Neue"/>
              </a:defRPr>
            </a:pPr>
            <a:r>
              <a:rPr sz="1800" b="1">
                <a:solidFill>
                  <a:srgbClr val="123363"/>
                </a:solidFill>
                <a:latin typeface="Helvetica Neue"/>
                <a:ea typeface="Helvetica Neue"/>
                <a:cs typeface="Helvetica Neue"/>
              </a:rPr>
              <a:t>DashScope</a:t>
            </a:r>
          </a:p>
        </p:txBody>
      </p:sp>
      <p:cxnSp>
        <p:nvCxnSpPr>
          <p:cNvPr id="35" name=""/>
          <p:cNvCxnSpPr>
            <a:stCxn xmlns:a="http://schemas.openxmlformats.org/drawingml/2006/main" id="3" idx="3"/>
            <a:endCxn xmlns:a="http://schemas.openxmlformats.org/drawingml/2006/main" id="5" idx="1"/>
          </p:cNvCxnSpPr>
          <p:nvPr/>
        </p:nvCxnSpPr>
        <p:spPr>
          <a:xfrm xmlns:a="http://schemas.openxmlformats.org/drawingml/2006/main">
            <a:off x="2867025" y="3171825"/>
            <a:ext cx="571500" cy="0"/>
          </a:xfrm>
          <a:prstGeom xmlns:a="http://schemas.openxmlformats.org/drawingml/2006/main" prst="straightConnector1">
            <a:avLst/>
          </a:prstGeom>
          <a:ln xmlns:a="http://schemas.openxmlformats.org/drawingml/2006/main" w="19050">
            <a:solidFill>
              <a:srgbClr val="126FCE"/>
            </a:solidFill>
            <a:headEnd type="triangle" w="med" len="med"/>
            <a:tailEnd type="triangle" w="med" len="med"/>
          </a:ln>
        </p:spPr>
      </p:cxnSp>
      <p:cxnSp>
        <p:nvCxnSpPr>
          <p:cNvPr id="36" name=""/>
          <p:cNvCxnSpPr>
            <a:stCxn xmlns:a="http://schemas.openxmlformats.org/drawingml/2006/main" id="5" idx="3"/>
            <a:endCxn xmlns:a="http://schemas.openxmlformats.org/drawingml/2006/main" id="7" idx="1"/>
          </p:cNvCxnSpPr>
          <p:nvPr/>
        </p:nvCxnSpPr>
        <p:spPr>
          <a:xfrm xmlns:a="http://schemas.openxmlformats.org/drawingml/2006/main">
            <a:off x="5734050" y="3171825"/>
            <a:ext cx="561975" cy="0"/>
          </a:xfrm>
          <a:prstGeom xmlns:a="http://schemas.openxmlformats.org/drawingml/2006/main" prst="straightConnector1">
            <a:avLst/>
          </a:prstGeom>
          <a:ln xmlns:a="http://schemas.openxmlformats.org/drawingml/2006/main" w="19050">
            <a:solidFill>
              <a:srgbClr val="126FCE"/>
            </a:solidFill>
            <a:headEnd type="triangle" w="med" len="med"/>
            <a:tailEnd type="triangle" w="med" len="med"/>
          </a:ln>
        </p:spPr>
      </p:cxnSp>
      <p:cxnSp>
        <p:nvCxnSpPr>
          <p:cNvPr id="37" name=""/>
          <p:cNvCxnSpPr>
            <a:stCxn xmlns:a="http://schemas.openxmlformats.org/drawingml/2006/main" id="7" idx="3"/>
            <a:endCxn xmlns:a="http://schemas.openxmlformats.org/drawingml/2006/main" id="9" idx="1"/>
          </p:cNvCxnSpPr>
          <p:nvPr/>
        </p:nvCxnSpPr>
        <p:spPr>
          <a:xfrm xmlns:a="http://schemas.openxmlformats.org/drawingml/2006/main">
            <a:off x="8591550" y="3171825"/>
            <a:ext cx="571500" cy="0"/>
          </a:xfrm>
          <a:prstGeom xmlns:a="http://schemas.openxmlformats.org/drawingml/2006/main" prst="straightConnector1">
            <a:avLst/>
          </a:prstGeom>
          <a:ln xmlns:a="http://schemas.openxmlformats.org/drawingml/2006/main" w="19050">
            <a:solidFill>
              <a:srgbClr val="126FCE"/>
            </a:solidFill>
            <a:headEnd type="triangle" w="med" len="med"/>
            <a:tailEnd type="triangle" w="med" len="med"/>
          </a:ln>
        </p:spPr>
      </p:cxnSp>
      <p:cxnSp>
        <p:nvCxnSpPr>
          <p:cNvPr id="38" name=""/>
          <p:cNvCxnSpPr>
            <a:stCxn xmlns:a="http://schemas.openxmlformats.org/drawingml/2006/main" id="5" idx="2"/>
            <a:endCxn xmlns:a="http://schemas.openxmlformats.org/drawingml/2006/main" id="11" idx="0"/>
          </p:cNvCxnSpPr>
          <p:nvPr/>
        </p:nvCxnSpPr>
        <p:spPr>
          <a:xfrm xmlns:a="http://schemas.openxmlformats.org/drawingml/2006/main">
            <a:off x="4586288" y="3876675"/>
            <a:ext cx="0" cy="800100"/>
          </a:xfrm>
          <a:prstGeom xmlns:a="http://schemas.openxmlformats.org/drawingml/2006/main" prst="straightConnector1">
            <a:avLst/>
          </a:prstGeom>
          <a:ln xmlns:a="http://schemas.openxmlformats.org/drawingml/2006/main" w="19050">
            <a:solidFill>
              <a:srgbClr val="126FCE"/>
            </a:solidFill>
            <a:headEnd type="triangle" w="med" len="med"/>
            <a:tailEnd type="triangle" w="med" len="med"/>
          </a:ln>
        </p:spPr>
      </p:cxnSp>
      <p:cxnSp>
        <p:nvCxnSpPr>
          <p:cNvPr id="39" name=""/>
          <p:cNvCxnSpPr>
            <a:stCxn xmlns:a="http://schemas.openxmlformats.org/drawingml/2006/main" id="9" idx="2"/>
            <a:endCxn xmlns:a="http://schemas.openxmlformats.org/drawingml/2006/main" id="13" idx="0"/>
          </p:cNvCxnSpPr>
          <p:nvPr/>
        </p:nvCxnSpPr>
        <p:spPr>
          <a:xfrm xmlns:a="http://schemas.openxmlformats.org/drawingml/2006/main">
            <a:off x="10310813" y="3876675"/>
            <a:ext cx="0" cy="800100"/>
          </a:xfrm>
          <a:prstGeom xmlns:a="http://schemas.openxmlformats.org/drawingml/2006/main" prst="straightConnector1">
            <a:avLst/>
          </a:prstGeom>
          <a:ln xmlns:a="http://schemas.openxmlformats.org/drawingml/2006/main" w="19050">
            <a:solidFill>
              <a:srgbClr val="126FCE"/>
            </a:solidFill>
            <a:headEnd type="triangle" w="med" len="med"/>
            <a:tailEnd type="triangle" w="med" len="med"/>
          </a:ln>
        </p:spPr>
      </p:cxnSp>
      <p:sp>
        <p:nvSpPr>
          <p:cNvPr id="20" name="">
            <a:extLst xmlns:a="http://schemas.openxmlformats.org/drawingml/2006/main">
              <a:ext uri="{FF2B5EF4-FFF2-40B4-BE49-F238E27FC236}">
                <a16:creationId xmlns:a16="http://schemas.microsoft.com/office/drawing/2014/main" id="{ECCD2644-CBCC-4329-B716-A40F232E0A62}"/>
              </a:ext>
            </a:extLst>
          </p:cNvPr>
          <p:cNvSpPr>
            <a:spLocks xmlns:a="http://schemas.openxmlformats.org/drawingml/2006/main" noGrp="1"/>
          </p:cNvSpPr>
          <p:nvPr/>
        </p:nvSpPr>
        <p:spPr>
          <a:xfrm xmlns:a="http://schemas.openxmlformats.org/drawingml/2006/main">
            <a:off x="581025" y="6286500"/>
            <a:ext cx="1099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8718B"/>
                </a:solidFill>
                <a:latin typeface="Helvetica Neue"/>
                <a:ea typeface="Helvetica Neue"/>
                <a:cs typeface="Helvetica Neue"/>
              </a:defRPr>
            </a:pPr>
            <a:r>
              <a:rPr sz="1800" b="0">
                <a:solidFill>
                  <a:srgbClr val="58718B"/>
                </a:solidFill>
                <a:latin typeface="Helvetica Neue"/>
                <a:ea typeface="Helvetica Neue"/>
                <a:cs typeface="Helvetica Neue"/>
              </a:rPr>
              <a:t>PostgreSQL stores workspace data and queues research jobs.</a:t>
            </a:r>
          </a:p>
        </p:txBody>
      </p:sp>
    </p:spTree>
    <p:extLst>
      <p:ext uri="{BB962C8B-B14F-4D97-AF65-F5344CB8AC3E}">
        <p14:creationId xmlns:p14="http://schemas.microsoft.com/office/powerpoint/2010/main" val="111310565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BE8D7F7-5B1F-4DC0-BBBF-D586352E1F34}"/>
              </a:ext>
            </a:extLst>
          </p:cNvPr>
          <p:cNvSpPr>
            <a:spLocks xmlns:a="http://schemas.openxmlformats.org/drawingml/2006/main" noGrp="1"/>
          </p:cNvSpPr>
          <p:nvPr/>
        </p:nvSpPr>
        <p:spPr>
          <a:xfrm xmlns:a="http://schemas.openxmlformats.org/drawingml/2006/main">
            <a:off x="533400" y="457200"/>
            <a:ext cx="1095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0B214A"/>
                </a:solidFill>
                <a:latin typeface="Helvetica Neue"/>
                <a:ea typeface="Helvetica Neue"/>
                <a:cs typeface="Helvetica Neue"/>
              </a:defRPr>
            </a:pPr>
            <a:r>
              <a:rPr sz="3825" b="1">
                <a:solidFill>
                  <a:srgbClr val="0B214A"/>
                </a:solidFill>
                <a:latin typeface="Helvetica Neue"/>
                <a:ea typeface="Helvetica Neue"/>
                <a:cs typeface="Helvetica Neue"/>
              </a:rPr>
              <a:t>An outreach draft for your review</a:t>
            </a:r>
          </a:p>
        </p:txBody>
      </p:sp>
      <p:sp>
        <p:nvSpPr>
          <p:cNvPr id="2" name="">
            <a:extLst xmlns:a="http://schemas.openxmlformats.org/drawingml/2006/main">
              <a:ext uri="{FF2B5EF4-FFF2-40B4-BE49-F238E27FC236}">
                <a16:creationId xmlns:a16="http://schemas.microsoft.com/office/drawing/2014/main" id="{BF6B1CCC-7EC0-4393-8788-A356D9BE9A8B}"/>
              </a:ext>
            </a:extLst>
          </p:cNvPr>
          <p:cNvSpPr>
            <a:spLocks xmlns:a="http://schemas.openxmlformats.org/drawingml/2006/main" noGrp="1"/>
          </p:cNvSpPr>
          <p:nvPr/>
        </p:nvSpPr>
        <p:spPr>
          <a:xfrm xmlns:a="http://schemas.openxmlformats.org/drawingml/2006/main">
            <a:off x="590550" y="13525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8718B"/>
                </a:solidFill>
                <a:latin typeface="Helvetica Neue"/>
                <a:ea typeface="Helvetica Neue"/>
                <a:cs typeface="Helvetica Neue"/>
              </a:defRPr>
            </a:pPr>
            <a:r>
              <a:rPr sz="2025" b="0">
                <a:solidFill>
                  <a:srgbClr val="58718B"/>
                </a:solidFill>
                <a:latin typeface="Helvetica Neue"/>
                <a:ea typeface="Helvetica Neue"/>
                <a:cs typeface="Helvetica Neue"/>
              </a:rPr>
              <a:t>A source-based opener, a conditional fit, and a question that invites a reply.</a:t>
            </a:r>
          </a:p>
        </p:txBody>
      </p:sp>
      <p:sp>
        <p:nvSpPr>
          <p:cNvPr id="3" name="">
            <a:extLst xmlns:a="http://schemas.openxmlformats.org/drawingml/2006/main">
              <a:ext uri="{FF2B5EF4-FFF2-40B4-BE49-F238E27FC236}">
                <a16:creationId xmlns:a16="http://schemas.microsoft.com/office/drawing/2014/main" id="{425D3703-05BD-4BCB-A5E7-700879BC8AF0}"/>
              </a:ext>
            </a:extLst>
          </p:cNvPr>
          <p:cNvSpPr>
            <a:spLocks xmlns:a="http://schemas.openxmlformats.org/drawingml/2006/main" noGrp="1"/>
          </p:cNvSpPr>
          <p:nvPr/>
        </p:nvSpPr>
        <p:spPr>
          <a:xfrm xmlns:a="http://schemas.openxmlformats.org/drawingml/2006/main">
            <a:off x="657225" y="2305050"/>
            <a:ext cx="108299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3363"/>
                </a:solidFill>
                <a:latin typeface="Helvetica Neue"/>
                <a:ea typeface="Helvetica Neue"/>
                <a:cs typeface="Helvetica Neue"/>
              </a:defRPr>
            </a:pPr>
            <a:r>
              <a:rPr sz="1875" b="0">
                <a:solidFill>
                  <a:srgbClr val="123363"/>
                </a:solidFill>
                <a:latin typeface="Helvetica Neue"/>
                <a:ea typeface="Helvetica Neue"/>
                <a:cs typeface="Helvetica Neue"/>
              </a:rPr>
              <a:t>Hi Guillermo,</a:t>
            </a:r>
          </a:p>
        </p:txBody>
      </p:sp>
      <p:sp>
        <p:nvSpPr>
          <p:cNvPr id="4" name="">
            <a:extLst xmlns:a="http://schemas.openxmlformats.org/drawingml/2006/main">
              <a:ext uri="{FF2B5EF4-FFF2-40B4-BE49-F238E27FC236}">
                <a16:creationId xmlns:a16="http://schemas.microsoft.com/office/drawing/2014/main" id="{E3721BE4-D65B-44D2-913A-1FD0D1C2343A}"/>
              </a:ext>
            </a:extLst>
          </p:cNvPr>
          <p:cNvSpPr>
            <a:spLocks xmlns:a="http://schemas.openxmlformats.org/drawingml/2006/main" noGrp="1"/>
          </p:cNvSpPr>
          <p:nvPr/>
        </p:nvSpPr>
        <p:spPr>
          <a:xfrm xmlns:a="http://schemas.openxmlformats.org/drawingml/2006/main">
            <a:off x="657225" y="2886075"/>
            <a:ext cx="10829925"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3363"/>
                </a:solidFill>
                <a:latin typeface="Helvetica Neue"/>
                <a:ea typeface="Helvetica Neue"/>
                <a:cs typeface="Helvetica Neue"/>
              </a:defRPr>
            </a:pPr>
            <a:r>
              <a:rPr sz="1875" b="0">
                <a:solidFill>
                  <a:srgbClr val="123363"/>
                </a:solidFill>
                <a:latin typeface="Helvetica Neue"/>
                <a:ea typeface="Helvetica Neue"/>
                <a:cs typeface="Helvetica Neue"/>
              </a:rPr>
              <a:t>I noticed Vercel’s stated vision includes providing analytics as part of an end-to-end platform. With 3 product tiers and technical Account Executives working alongside developers, I’m curious how your team identifies where developers get stuck during onboarding.</a:t>
            </a:r>
          </a:p>
        </p:txBody>
      </p:sp>
      <p:sp>
        <p:nvSpPr>
          <p:cNvPr id="5" name="">
            <a:extLst xmlns:a="http://schemas.openxmlformats.org/drawingml/2006/main">
              <a:ext uri="{FF2B5EF4-FFF2-40B4-BE49-F238E27FC236}">
                <a16:creationId xmlns:a16="http://schemas.microsoft.com/office/drawing/2014/main" id="{F0FC8601-A985-4591-A9D2-AAD1A6F60EBB}"/>
              </a:ext>
            </a:extLst>
          </p:cNvPr>
          <p:cNvSpPr>
            <a:spLocks xmlns:a="http://schemas.openxmlformats.org/drawingml/2006/main" noGrp="1"/>
          </p:cNvSpPr>
          <p:nvPr/>
        </p:nvSpPr>
        <p:spPr>
          <a:xfrm xmlns:a="http://schemas.openxmlformats.org/drawingml/2006/main">
            <a:off x="657225" y="4324350"/>
            <a:ext cx="108299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3363"/>
                </a:solidFill>
                <a:latin typeface="Helvetica Neue"/>
                <a:ea typeface="Helvetica Neue"/>
                <a:cs typeface="Helvetica Neue"/>
              </a:defRPr>
            </a:pPr>
            <a:r>
              <a:rPr sz="1875" b="0">
                <a:solidFill>
                  <a:srgbClr val="123363"/>
                </a:solidFill>
                <a:latin typeface="Helvetica Neue"/>
                <a:ea typeface="Helvetica Neue"/>
                <a:cs typeface="Helvetica Neue"/>
              </a:rPr>
              <a:t>We help developer platforms combine usage metrics and session feedback to prioritize documentation and product fixes. If improving onboarding visibility is a current focus, would it make sense to connect?</a:t>
            </a:r>
          </a:p>
        </p:txBody>
      </p:sp>
      <p:sp>
        <p:nvSpPr>
          <p:cNvPr id="6" name="">
            <a:extLst xmlns:a="http://schemas.openxmlformats.org/drawingml/2006/main">
              <a:ext uri="{FF2B5EF4-FFF2-40B4-BE49-F238E27FC236}">
                <a16:creationId xmlns:a16="http://schemas.microsoft.com/office/drawing/2014/main" id="{866FC527-9622-42D4-BEE6-DF4F2B91D9C0}"/>
              </a:ext>
            </a:extLst>
          </p:cNvPr>
          <p:cNvSpPr>
            <a:spLocks xmlns:a="http://schemas.openxmlformats.org/drawingml/2006/main" noGrp="1"/>
          </p:cNvSpPr>
          <p:nvPr/>
        </p:nvSpPr>
        <p:spPr>
          <a:xfrm xmlns:a="http://schemas.openxmlformats.org/drawingml/2006/main">
            <a:off x="657225" y="5467350"/>
            <a:ext cx="108299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8718B"/>
                </a:solidFill>
                <a:latin typeface="Helvetica Neue"/>
                <a:ea typeface="Helvetica Neue"/>
                <a:cs typeface="Helvetica Neue"/>
              </a:defRPr>
            </a:pPr>
            <a:r>
              <a:rPr sz="1800" b="0">
                <a:solidFill>
                  <a:srgbClr val="58718B"/>
                </a:solidFill>
                <a:latin typeface="Helvetica Neue"/>
                <a:ea typeface="Helvetica Neue"/>
                <a:cs typeface="Helvetica Neue"/>
              </a:rPr>
              <a:t>Best,</a:t>
            </a:r>
          </a:p>
          <a:p xmlns:a="http://schemas.openxmlformats.org/drawingml/2006/main">
            <a:pPr>
              <a:defRPr sz="1800" b="0">
                <a:solidFill>
                  <a:srgbClr val="58718B"/>
                </a:solidFill>
                <a:latin typeface="Helvetica Neue"/>
                <a:ea typeface="Helvetica Neue"/>
                <a:cs typeface="Helvetica Neue"/>
              </a:defRPr>
            </a:pPr>
            <a:r>
              <a:rPr sz="1800" b="0">
                <a:solidFill>
                  <a:srgbClr val="58718B"/>
                </a:solidFill>
                <a:latin typeface="Helvetica Neue"/>
                <a:ea typeface="Helvetica Neue"/>
                <a:cs typeface="Helvetica Neue"/>
              </a:rPr>
              <a:t>E2E Tester</a:t>
            </a:r>
          </a:p>
        </p:txBody>
      </p:sp>
      <p:sp>
        <p:nvSpPr>
          <p:cNvPr id="7" name="">
            <a:extLst xmlns:a="http://schemas.openxmlformats.org/drawingml/2006/main">
              <a:ext uri="{FF2B5EF4-FFF2-40B4-BE49-F238E27FC236}">
                <a16:creationId xmlns:a16="http://schemas.microsoft.com/office/drawing/2014/main" id="{19AE429C-87E2-4E84-8610-E1DF3EB8C1F8}"/>
              </a:ext>
            </a:extLst>
          </p:cNvPr>
          <p:cNvSpPr>
            <a:spLocks xmlns:a="http://schemas.openxmlformats.org/drawingml/2006/main" noGrp="1"/>
          </p:cNvSpPr>
          <p:nvPr/>
        </p:nvSpPr>
        <p:spPr>
          <a:xfrm xmlns:a="http://schemas.openxmlformats.org/drawingml/2006/main">
            <a:off x="590550" y="631507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3363"/>
                </a:solidFill>
                <a:latin typeface="Helvetica Neue"/>
                <a:ea typeface="Helvetica Neue"/>
                <a:cs typeface="Helvetica Neue"/>
              </a:defRPr>
            </a:pPr>
            <a:r>
              <a:rPr sz="1800" b="1">
                <a:solidFill>
                  <a:srgbClr val="123363"/>
                </a:solidFill>
                <a:latin typeface="Helvetica Neue"/>
                <a:ea typeface="Helvetica Neue"/>
                <a:cs typeface="Helvetica Neue"/>
              </a:rPr>
              <a:t>Personalize the message and verify its claims before sending.</a:t>
            </a:r>
          </a:p>
        </p:txBody>
      </p:sp>
    </p:spTree>
    <p:extLst>
      <p:ext uri="{BB962C8B-B14F-4D97-AF65-F5344CB8AC3E}">
        <p14:creationId xmlns:p14="http://schemas.microsoft.com/office/powerpoint/2010/main" val="1597425485"/>
      </p:ext>
    </p:extLst>
  </p:cSld>
</p:sld>
</file>

<file path=ppt/slides/slide10.xml><?xml version="1.0" encoding="utf-8"?>
<p:sld xmlns:p="http://schemas.openxmlformats.org/presentationml/2006/main">
  <p:cSld>
    <p:bg>
      <p:bgPr>
        <a:solidFill xmlns:a="http://schemas.openxmlformats.org/drawingml/2006/main">
          <a:srgbClr val="0B21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AA8D79A-7530-419F-A377-66D1C624AA3A}"/>
              </a:ext>
            </a:extLst>
          </p:cNvPr>
          <p:cNvSpPr>
            <a:spLocks xmlns:a="http://schemas.openxmlformats.org/drawingml/2006/main" noGrp="1"/>
          </p:cNvSpPr>
          <p:nvPr/>
        </p:nvSpPr>
        <p:spPr>
          <a:xfrm xmlns:a="http://schemas.openxmlformats.org/drawingml/2006/main">
            <a:off x="523875" y="52387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InsightIQ</a:t>
            </a:r>
          </a:p>
        </p:txBody>
      </p:sp>
      <p:sp>
        <p:nvSpPr>
          <p:cNvPr id="2" name="">
            <a:extLst xmlns:a="http://schemas.openxmlformats.org/drawingml/2006/main">
              <a:ext uri="{FF2B5EF4-FFF2-40B4-BE49-F238E27FC236}">
                <a16:creationId xmlns:a16="http://schemas.microsoft.com/office/drawing/2014/main" id="{60578014-F9F2-4E9A-B96B-44185B5E9BFA}"/>
              </a:ext>
            </a:extLst>
          </p:cNvPr>
          <p:cNvSpPr>
            <a:spLocks xmlns:a="http://schemas.openxmlformats.org/drawingml/2006/main" noGrp="1"/>
          </p:cNvSpPr>
          <p:nvPr/>
        </p:nvSpPr>
        <p:spPr>
          <a:xfrm xmlns:a="http://schemas.openxmlformats.org/drawingml/2006/main">
            <a:off x="533400" y="1838325"/>
            <a:ext cx="6953250" cy="2705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FFFFFF"/>
                </a:solidFill>
                <a:latin typeface="Helvetica Neue"/>
                <a:ea typeface="Helvetica Neue"/>
                <a:cs typeface="Helvetica Neue"/>
              </a:defRPr>
            </a:pPr>
            <a:r>
              <a:rPr sz="4650" b="1">
                <a:solidFill>
                  <a:srgbClr val="FFFFFF"/>
                </a:solidFill>
                <a:latin typeface="Helvetica Neue"/>
                <a:ea typeface="Helvetica Neue"/>
                <a:cs typeface="Helvetica Neue"/>
              </a:rPr>
              <a:t>Turn research into</a:t>
            </a:r>
          </a:p>
          <a:p xmlns:a="http://schemas.openxmlformats.org/drawingml/2006/main">
            <a:pPr>
              <a:defRPr sz="4650" b="1">
                <a:solidFill>
                  <a:srgbClr val="FFFFFF"/>
                </a:solidFill>
                <a:latin typeface="Helvetica Neue"/>
                <a:ea typeface="Helvetica Neue"/>
                <a:cs typeface="Helvetica Neue"/>
              </a:defRPr>
            </a:pPr>
            <a:r>
              <a:rPr sz="4650" b="1">
                <a:solidFill>
                  <a:srgbClr val="FFFFFF"/>
                </a:solidFill>
                <a:latin typeface="Helvetica Neue"/>
                <a:ea typeface="Helvetica Neue"/>
                <a:cs typeface="Helvetica Neue"/>
              </a:rPr>
              <a:t>a conversation</a:t>
            </a:r>
          </a:p>
          <a:p xmlns:a="http://schemas.openxmlformats.org/drawingml/2006/main">
            <a:pPr>
              <a:defRPr sz="4650" b="1">
                <a:solidFill>
                  <a:srgbClr val="FFFFFF"/>
                </a:solidFill>
                <a:latin typeface="Helvetica Neue"/>
                <a:ea typeface="Helvetica Neue"/>
                <a:cs typeface="Helvetica Neue"/>
              </a:defRPr>
            </a:pPr>
            <a:r>
              <a:rPr sz="4650" b="1">
                <a:solidFill>
                  <a:srgbClr val="FFFFFF"/>
                </a:solidFill>
                <a:latin typeface="Helvetica Neue"/>
                <a:ea typeface="Helvetica Neue"/>
                <a:cs typeface="Helvetica Neue"/>
              </a:rPr>
              <a:t>worth having.</a:t>
            </a:r>
          </a:p>
        </p:txBody>
      </p:sp>
      <p:sp>
        <p:nvSpPr>
          <p:cNvPr id="3" name="">
            <a:extLst xmlns:a="http://schemas.openxmlformats.org/drawingml/2006/main">
              <a:ext uri="{FF2B5EF4-FFF2-40B4-BE49-F238E27FC236}">
                <a16:creationId xmlns:a16="http://schemas.microsoft.com/office/drawing/2014/main" id="{565AFA7C-5D3E-4F14-B0BF-CF2AAD2C1A90}"/>
              </a:ext>
            </a:extLst>
          </p:cNvPr>
          <p:cNvSpPr>
            <a:spLocks xmlns:a="http://schemas.openxmlformats.org/drawingml/2006/main" noGrp="1"/>
          </p:cNvSpPr>
          <p:nvPr/>
        </p:nvSpPr>
        <p:spPr>
          <a:xfrm xmlns:a="http://schemas.openxmlformats.org/drawingml/2006/main">
            <a:off x="8020050" y="1952625"/>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3D7F2"/>
                </a:solidFill>
                <a:latin typeface="Helvetica Neue"/>
                <a:ea typeface="Helvetica Neue"/>
                <a:cs typeface="Helvetica Neue"/>
              </a:defRPr>
            </a:pPr>
            <a:r>
              <a:rPr sz="1950" b="1">
                <a:solidFill>
                  <a:srgbClr val="63D7F2"/>
                </a:solidFill>
                <a:latin typeface="Helvetica Neue"/>
                <a:ea typeface="Helvetica Neue"/>
                <a:cs typeface="Helvetica Neue"/>
              </a:rPr>
              <a:t>Built by</a:t>
            </a:r>
          </a:p>
        </p:txBody>
      </p:sp>
      <p:sp>
        <p:nvSpPr>
          <p:cNvPr id="4" name="">
            <a:extLst xmlns:a="http://schemas.openxmlformats.org/drawingml/2006/main">
              <a:ext uri="{FF2B5EF4-FFF2-40B4-BE49-F238E27FC236}">
                <a16:creationId xmlns:a16="http://schemas.microsoft.com/office/drawing/2014/main" id="{A1AE31A6-09FC-448C-9D9C-CF33AAD9178E}"/>
              </a:ext>
            </a:extLst>
          </p:cNvPr>
          <p:cNvSpPr>
            <a:spLocks xmlns:a="http://schemas.openxmlformats.org/drawingml/2006/main" noGrp="1"/>
          </p:cNvSpPr>
          <p:nvPr/>
        </p:nvSpPr>
        <p:spPr>
          <a:xfrm xmlns:a="http://schemas.openxmlformats.org/drawingml/2006/main">
            <a:off x="8020050" y="2638425"/>
            <a:ext cx="3514725"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Afnan Ahmad Tariq</a:t>
            </a:r>
          </a:p>
          <a:p xmlns:a="http://schemas.openxmlformats.org/drawingml/2006/main">
            <a:r>
              <a:t/>
            </a:r>
          </a:p>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Danyal Rana</a:t>
            </a:r>
          </a:p>
          <a:p xmlns:a="http://schemas.openxmlformats.org/drawingml/2006/main">
            <a:r>
              <a:t/>
            </a:r>
          </a:p>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Hassan</a:t>
            </a:r>
          </a:p>
        </p:txBody>
      </p:sp>
      <p:sp>
        <p:nvSpPr>
          <p:cNvPr id="5" name="">
            <a:extLst xmlns:a="http://schemas.openxmlformats.org/drawingml/2006/main">
              <a:ext uri="{FF2B5EF4-FFF2-40B4-BE49-F238E27FC236}">
                <a16:creationId xmlns:a16="http://schemas.microsoft.com/office/drawing/2014/main" id="{EC282CB8-921D-49FF-8971-6B58DC98D4F5}"/>
              </a:ext>
            </a:extLst>
          </p:cNvPr>
          <p:cNvSpPr>
            <a:spLocks xmlns:a="http://schemas.openxmlformats.org/drawingml/2006/main" noGrp="1"/>
          </p:cNvSpPr>
          <p:nvPr/>
        </p:nvSpPr>
        <p:spPr>
          <a:xfrm xmlns:a="http://schemas.openxmlformats.org/drawingml/2006/main">
            <a:off x="581025" y="5867400"/>
            <a:ext cx="10782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63D7F2"/>
                </a:solidFill>
                <a:latin typeface="Helvetica Neue"/>
                <a:ea typeface="Helvetica Neue"/>
                <a:cs typeface="Helvetica Neue"/>
              </a:defRPr>
            </a:pPr>
            <a:r>
              <a:rPr sz="2400" b="1">
                <a:solidFill>
                  <a:srgbClr val="63D7F2"/>
                </a:solidFill>
                <a:latin typeface="Helvetica Neue"/>
                <a:ea typeface="Helvetica Neue"/>
                <a:cs typeface="Helvetica Neue"/>
              </a:rPr>
              <a:t>insightiq.zerotools.online</a:t>
            </a:r>
          </a:p>
        </p:txBody>
      </p:sp>
    </p:spTree>
    <p:extLst>
      <p:ext uri="{BB962C8B-B14F-4D97-AF65-F5344CB8AC3E}">
        <p14:creationId xmlns:p14="http://schemas.microsoft.com/office/powerpoint/2010/main" val="4505738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2026-09-07T20:40:23.1410000Z</dcterms:created>
  <dcterms:modified xsi:type="dcterms:W3CDTF">2026-09-07T20:40:23.1410000Z</dcterms:modified>
</coreProperties>
</file>
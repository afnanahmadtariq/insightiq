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2e0094cfe242d0" /><Relationship Type="http://schemas.openxmlformats.org/officeDocument/2006/relationships/extended-properties" Target="/docProps/app.xml" Id="R569eb22ee9f54e74" /><Relationship Type="http://schemas.openxmlformats.org/officeDocument/2006/relationships/officeDocument" Target="/ppt/presentation.xml" Id="R406159be19a347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feaaa70f9e4a39"/>
  </p:sldMasterIdLst>
  <p:notesMasterIdLst>
    <p:notesMasterId xmlns:r="http://schemas.openxmlformats.org/officeDocument/2006/relationships" r:id="R80b96f7db617483b"/>
  </p:notesMasterIdLst>
  <p:sldIdLst>
    <p:sldId xmlns:r="http://schemas.openxmlformats.org/officeDocument/2006/relationships" id="256" r:id="R73b61b77e0bb4a0f"/>
    <p:sldId xmlns:r="http://schemas.openxmlformats.org/officeDocument/2006/relationships" id="257" r:id="R232f2c2de03c4bdb"/>
    <p:sldId xmlns:r="http://schemas.openxmlformats.org/officeDocument/2006/relationships" id="258" r:id="Rc1f2c68e180b44bc"/>
    <p:sldId xmlns:r="http://schemas.openxmlformats.org/officeDocument/2006/relationships" id="259" r:id="R3521ae1676c34d76"/>
    <p:sldId xmlns:r="http://schemas.openxmlformats.org/officeDocument/2006/relationships" id="260" r:id="R19fb654398074356"/>
    <p:sldId xmlns:r="http://schemas.openxmlformats.org/officeDocument/2006/relationships" id="261" r:id="R4262ca2b10284322"/>
    <p:sldId xmlns:r="http://schemas.openxmlformats.org/officeDocument/2006/relationships" id="262" r:id="Rfbaaf35b7de742dd"/>
    <p:sldId xmlns:r="http://schemas.openxmlformats.org/officeDocument/2006/relationships" id="263" r:id="R4ba4ccb6a240483c"/>
    <p:sldId xmlns:r="http://schemas.openxmlformats.org/officeDocument/2006/relationships" id="264" r:id="Ref52c1f158a04441"/>
    <p:sldId xmlns:r="http://schemas.openxmlformats.org/officeDocument/2006/relationships" id="265" r:id="R24f4477354ec43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ebea4cfe654742" /><Relationship Type="http://schemas.openxmlformats.org/officeDocument/2006/relationships/slideMaster" Target="/ppt/slideMasters/slideMaster1.xml" Id="R78feaaa70f9e4a39" /><Relationship Type="http://schemas.openxmlformats.org/officeDocument/2006/relationships/notesMaster" Target="/ppt/notesMasters/notesMaster1.xml" Id="R80b96f7db617483b" /><Relationship Type="http://schemas.openxmlformats.org/officeDocument/2006/relationships/presProps" Target="/ppt/presProps.xml" Id="Rd5f8cf71107a4ba7" /><Relationship Type="http://schemas.openxmlformats.org/officeDocument/2006/relationships/tableStyles" Target="/ppt/tableStyles.xml" Id="Rfdccccf810504c51" /><Relationship Type="http://schemas.openxmlformats.org/officeDocument/2006/relationships/slide" Target="/ppt/slides/slide1.xml" Id="R73b61b77e0bb4a0f" /><Relationship Type="http://schemas.openxmlformats.org/officeDocument/2006/relationships/slide" Target="/ppt/slides/slide2.xml" Id="R232f2c2de03c4bdb" /><Relationship Type="http://schemas.openxmlformats.org/officeDocument/2006/relationships/slide" Target="/ppt/slides/slide3.xml" Id="Rc1f2c68e180b44bc" /><Relationship Type="http://schemas.openxmlformats.org/officeDocument/2006/relationships/slide" Target="/ppt/slides/slide4.xml" Id="R3521ae1676c34d76" /><Relationship Type="http://schemas.openxmlformats.org/officeDocument/2006/relationships/slide" Target="/ppt/slides/slide5.xml" Id="R19fb654398074356" /><Relationship Type="http://schemas.openxmlformats.org/officeDocument/2006/relationships/slide" Target="/ppt/slides/slide6.xml" Id="R4262ca2b10284322" /><Relationship Type="http://schemas.openxmlformats.org/officeDocument/2006/relationships/slide" Target="/ppt/slides/slide7.xml" Id="Rfbaaf35b7de742dd" /><Relationship Type="http://schemas.openxmlformats.org/officeDocument/2006/relationships/slide" Target="/ppt/slides/slide8.xml" Id="R4ba4ccb6a240483c" /><Relationship Type="http://schemas.openxmlformats.org/officeDocument/2006/relationships/slide" Target="/ppt/slides/slide9.xml" Id="Ref52c1f158a04441" /><Relationship Type="http://schemas.openxmlformats.org/officeDocument/2006/relationships/slide" Target="/ppt/slides/slide10.xml" Id="R24f4477354ec43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e67a0e0a8b41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0cec6b3cdd42c4" /><Relationship Type="http://schemas.openxmlformats.org/officeDocument/2006/relationships/notesMaster" Target="/ppt/notesMasters/notesMaster1.xml" Id="Rc9765b0383f649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a6808059fb4ced" /><Relationship Type="http://schemas.openxmlformats.org/officeDocument/2006/relationships/notesMaster" Target="/ppt/notesMasters/notesMaster1.xml" Id="Rc7702f507c8e45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e87bf1eb3f4139" /><Relationship Type="http://schemas.openxmlformats.org/officeDocument/2006/relationships/notesMaster" Target="/ppt/notesMasters/notesMaster1.xml" Id="Rf1267567902f46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5a848fc67c4820" /><Relationship Type="http://schemas.openxmlformats.org/officeDocument/2006/relationships/notesMaster" Target="/ppt/notesMasters/notesMaster1.xml" Id="Ra12a8d8565894c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5443423b37444d" /><Relationship Type="http://schemas.openxmlformats.org/officeDocument/2006/relationships/notesMaster" Target="/ppt/notesMasters/notesMaster1.xml" Id="Rae1d46f2b3f845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3f0e6e85e14568" /><Relationship Type="http://schemas.openxmlformats.org/officeDocument/2006/relationships/notesMaster" Target="/ppt/notesMasters/notesMaster1.xml" Id="Rd8569cbd86474a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f71a9fb0e04223" /><Relationship Type="http://schemas.openxmlformats.org/officeDocument/2006/relationships/notesMaster" Target="/ppt/notesMasters/notesMaster1.xml" Id="R7b0492b493d145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dec1eb886d4d8d" /><Relationship Type="http://schemas.openxmlformats.org/officeDocument/2006/relationships/notesMaster" Target="/ppt/notesMasters/notesMaster1.xml" Id="R5b7956fd6dff45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3174d826ba4555" /><Relationship Type="http://schemas.openxmlformats.org/officeDocument/2006/relationships/notesMaster" Target="/ppt/notesMasters/notesMaster1.xml" Id="Rbde610bf9ee74f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f235bffbd145b4" /><Relationship Type="http://schemas.openxmlformats.org/officeDocument/2006/relationships/notesMaster" Target="/ppt/notesMasters/notesMaster1.xml" Id="R7130013523554d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Logo: apps/web/public/insightiq-logo.svg.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Workflow source: apps/worker/src/insightiq_worker/graph_brief.py. API saves an immutable snapshot and performs Tavily discovery with Wikipedia fallback; the worker uses Qwen via DashScope and LangGraph. Citation checks match key signals to evidence records, source URLs, and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 Citation gate implementation: apps/worker/src/insightiq_worker/graph_brief.py. Citations establish traceability, not guaranteed truth.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Exact nodes and edges from docs/assets/architecture.mmd. This diagram is editable. Dashboard hosted through OpenNext on Cloudflare Workers. API, Python worker and PostgreSQL run with Docker Compose on a VPS. Nginx handles API traffic.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README.md; InsightIQ-docs/docs/submission/hackathon-submission.md; InsightIQ-docs/docs/engineering/current-status.md. No business performance results or time savings are asserted. Actual authenticated desktop screenshots captured 2026-09-08 from the local running InsightIQ application. Public-source demo research about Vercel. The research output is AI-generated, with source claims, conditional hypotheses, and questions for human review. Hypotheses are not established prospect needs. The screenshot shows an actual local AI-generated outreach draft. The user remains responsible for reviewing and sending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Contributors confirmed by user: Afnan Ahmad Tariq, Danyal Rana, Hassan. No individual roles inferred. Live product https://insightiq.zerotools.online.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d93e9b9b941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d3259b82fa646f8" /><Relationship Type="http://schemas.openxmlformats.org/officeDocument/2006/relationships/slideLayout" Target="/ppt/slideLayouts/slideLayout1.xml" Id="R2f2ab7d630e546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2ab7d630e546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8aa1fc307455e" /><Relationship Type="http://schemas.openxmlformats.org/officeDocument/2006/relationships/image" Target="/ppt/media/image.png" Id="Rf1a81de5c4eb4df0" /><Relationship Type="http://schemas.openxmlformats.org/officeDocument/2006/relationships/image" Target="/ppt/media/image2.png" Id="R503b2c7dbf274245" /><Relationship Type="http://schemas.openxmlformats.org/officeDocument/2006/relationships/notesSlide" Target="/ppt/notesSlides/notesSlide1.xml" Id="R7c2947e2120d4c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5948454a844bb" /><Relationship Type="http://schemas.openxmlformats.org/officeDocument/2006/relationships/notesSlide" Target="/ppt/notesSlides/notesSlide2.xml" Id="R62ff3b95b81c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50242a77c47cd" /><Relationship Type="http://schemas.openxmlformats.org/officeDocument/2006/relationships/image" Target="/ppt/media/image3.png" Id="R5f20e3b5e6be4a53" /><Relationship Type="http://schemas.openxmlformats.org/officeDocument/2006/relationships/notesSlide" Target="/ppt/notesSlides/notesSlide3.xml" Id="R7f240de227c242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c6b05e3344639" /><Relationship Type="http://schemas.openxmlformats.org/officeDocument/2006/relationships/notesSlide" Target="/ppt/notesSlides/notesSlide4.xml" Id="R88d15b6b91e143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4810e69a1486a" /><Relationship Type="http://schemas.openxmlformats.org/officeDocument/2006/relationships/image" Target="/ppt/media/image.jpeg" Id="Rfa289e1d8c8f49f1" /><Relationship Type="http://schemas.openxmlformats.org/officeDocument/2006/relationships/notesSlide" Target="/ppt/notesSlides/notesSlide5.xml" Id="R869f06785bb94b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9e212bce14c18" /><Relationship Type="http://schemas.openxmlformats.org/officeDocument/2006/relationships/image" Target="/ppt/media/image4.png" Id="R306aa3eb7b7d4e33" /><Relationship Type="http://schemas.openxmlformats.org/officeDocument/2006/relationships/notesSlide" Target="/ppt/notesSlides/notesSlide6.xml" Id="Rbd9e6fc663534f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14f260c314cbf" /><Relationship Type="http://schemas.openxmlformats.org/officeDocument/2006/relationships/image" Target="/ppt/media/image5.png" Id="R44b897ab1ff641d2" /><Relationship Type="http://schemas.openxmlformats.org/officeDocument/2006/relationships/notesSlide" Target="/ppt/notesSlides/notesSlide7.xml" Id="R6ef9c1b25aff4c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e8604b6594d10" /><Relationship Type="http://schemas.openxmlformats.org/officeDocument/2006/relationships/notesSlide" Target="/ppt/notesSlides/notesSlide8.xml" Id="R23782fcdf22348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499224fc4454d" /><Relationship Type="http://schemas.openxmlformats.org/officeDocument/2006/relationships/image" Target="/ppt/media/image6.png" Id="Rd5f13d97ab124de7" /><Relationship Type="http://schemas.openxmlformats.org/officeDocument/2006/relationships/notesSlide" Target="/ppt/notesSlides/notesSlide9.xml" Id="Rcb4bf1807a5e45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1839193f14797" /><Relationship Type="http://schemas.openxmlformats.org/officeDocument/2006/relationships/notesSlide" Target="/ppt/notesSlides/notesSlide10.xml" Id="R8a7d0296846f43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D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81de5c4eb4df0"/>
          <a:stretch xmlns:a="http://schemas.openxmlformats.org/drawingml/2006/main"/>
        </p:blipFill>
        <p:spPr>
          <a:xfrm xmlns:a="http://schemas.openxmlformats.org/drawingml/2006/main">
            <a:off x="590550" y="361950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9FFD7-542B-4BE2-83D3-3DC64007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00050"/>
            <a:ext cx="381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InsightIQ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25830-0002-4FC0-9252-59E61BCB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90675"/>
            <a:ext cx="6143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 source claim.</a:t>
            </a:r>
          </a:p>
          <a:p xmlns:a="http://schemas.openxmlformats.org/drawingml/2006/main">
            <a:pPr>
              <a:def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 hypothesis.</a:t>
            </a:r>
          </a:p>
          <a:p xmlns:a="http://schemas.openxmlformats.org/drawingml/2006/main">
            <a:pPr>
              <a:def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 better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1E788-FEB5-4EEF-B116-9DF5EDD8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4686300"/>
            <a:ext cx="5638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InsightIQ connects public claims to your offer and suggests how to test the fit.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b2c7dbf274245"/>
          <a:stretch xmlns:a="http://schemas.openxmlformats.org/drawingml/2006/main"/>
        </p:blipFill>
        <p:spPr>
          <a:xfrm xmlns:a="http://schemas.openxmlformats.org/drawingml/2006/main">
            <a:off x="6981825" y="2400643"/>
            <a:ext cx="4695825" cy="258058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3C2E0-AE93-4BB2-9DC1-CC1CE79E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531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Alibaba Bano Qabil AI Hackathon 2026</a:t>
            </a:r>
          </a:p>
        </p:txBody>
      </p:sp>
    </p:spTree>
    <p:extLst>
      <p:ext uri="{BB962C8B-B14F-4D97-AF65-F5344CB8AC3E}">
        <p14:creationId xmlns:p14="http://schemas.microsoft.com/office/powerpoint/2010/main" val="15595448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48167-CB20-4357-8CE1-9FE182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The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CAC39-8FCD-45E1-8250-78ED5F5C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5875"/>
            <a:ext cx="64960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link between</a:t>
            </a:r>
          </a:p>
          <a:p xmlns:a="http://schemas.openxmlformats.org/drawingml/2006/main">
            <a:pPr>
              <a:def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signal and</a:t>
            </a:r>
          </a:p>
          <a:p xmlns:a="http://schemas.openxmlformats.org/drawingml/2006/main">
            <a:pPr>
              <a:def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offer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E18AD-63B8-4FC5-AFFB-19092EF5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42291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What is sourced?</a:t>
            </a:r>
          </a:p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What is inferred?</a:t>
            </a:r>
          </a:p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What should I ask?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44FBD-D341-4D93-9A51-978E75A8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43300"/>
            <a:ext cx="41624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Each conversation angle separates the source claim from a conditional hypothesis and a question to validate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D9211-B45E-466D-8186-F28C185B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19775"/>
            <a:ext cx="108489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For B2B sales teams, agencies, and founders doing their own sales.</a:t>
            </a:r>
          </a:p>
        </p:txBody>
      </p:sp>
    </p:spTree>
    <p:extLst>
      <p:ext uri="{BB962C8B-B14F-4D97-AF65-F5344CB8AC3E}">
        <p14:creationId xmlns:p14="http://schemas.microsoft.com/office/powerpoint/2010/main" val="13957570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5181C-2A59-479E-8C0D-546FAB15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33425"/>
            <a:ext cx="5000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Meeting prep</a:t>
            </a:r>
          </a:p>
          <a:p xmlns:a="http://schemas.openxmlformats.org/drawingml/2006/main">
            <a:pPr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or outreach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0ACB6-5934-4EED-A9FE-CF23AB1E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You choose the goal.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2C9B6B-0A16-46C9-A681-7EB62A0F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44386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Add a prospect and explain</a:t>
            </a:r>
          </a:p>
          <a:p xmlns:a="http://schemas.openxmlformats.org/drawingml/2006/main">
            <a:pPr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what you sell. InsightIQ</a:t>
            </a:r>
          </a:p>
          <a:p xmlns:a="http://schemas.openxmlformats.org/drawingml/2006/main">
            <a:pPr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keeps both in context.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0e3b5e6be4a53"/>
          <a:stretch xmlns:a="http://schemas.openxmlformats.org/drawingml/2006/main"/>
        </p:blipFill>
        <p:spPr>
          <a:xfrm xmlns:a="http://schemas.openxmlformats.org/drawingml/2006/main">
            <a:off x="5476875" y="1641947"/>
            <a:ext cx="6191250" cy="346933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85826-A06A-4775-B1B2-13B5993D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6578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Meeting: talking points and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148D17-C6D7-4916-81C6-24808E53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61150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Outreach: an opener and draft to adapt</a:t>
            </a:r>
          </a:p>
        </p:txBody>
      </p:sp>
    </p:spTree>
    <p:extLst>
      <p:ext uri="{BB962C8B-B14F-4D97-AF65-F5344CB8AC3E}">
        <p14:creationId xmlns:p14="http://schemas.microsoft.com/office/powerpoint/2010/main" val="13858341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321673-B03E-4E7C-A782-841F848E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a Deal Brief takes shape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CE41E-2BCD-4221-8189-C0D43FE7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194A4-BBA5-4B9B-992A-19957DAF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62175"/>
            <a:ext cx="72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2E990-655C-41CA-B54E-15BA4107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724A7E-A198-4423-AABB-ABE25C4E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Prospect, offer,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chosen goal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1ED6F-218A-440F-94DE-7577D703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ABE6B-65D5-4E03-AD4A-CD63C271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162175"/>
            <a:ext cx="72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F083F-23E0-4467-9624-B0D9FA91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Discovery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0EB84D-6BA4-4FBC-A0AA-1BFC59DC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Relevant public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company signals</a:t>
            </a:r>
          </a:p>
        </p:txBody>
      </p:sp>
      <p:cxnSp>
        <p:nvCxnSpPr>
          <p:cNvPr id="36" name=""/>
          <p:cNvCxnSpPr>
            <a:stCxn xmlns:a="http://schemas.openxmlformats.org/drawingml/2006/main" id="2" idx="6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144780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976B38-393F-49F2-A52D-9ED75521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713D1-88E2-44C5-896C-0976AD23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162175"/>
            <a:ext cx="72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27B57-F7A5-4A4A-9EE8-B4094285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C7E5D-0147-470A-BEDB-601BF455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Stored claims with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source links</a:t>
            </a:r>
          </a:p>
        </p:txBody>
      </p:sp>
      <p:cxnSp>
        <p:nvCxnSpPr>
          <p:cNvPr id="41" name=""/>
          <p:cNvCxnSpPr>
            <a:stCxn xmlns:a="http://schemas.openxmlformats.org/drawingml/2006/main" id="6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367665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F58622-C77D-4F15-BFA4-1FCAD4077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9050">
            <a:solidFill>
              <a:srgbClr val="63D7F2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89D62-CD35-4A5C-85D5-3C4DA64ED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162175"/>
            <a:ext cx="72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5BF08-692C-47B4-BA31-86FD8B63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Brief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59FAD-FB61-4EC5-97D5-AFCCDA7A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Goal-specific output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citation checks</a:t>
            </a:r>
          </a:p>
        </p:txBody>
      </p:sp>
      <p:cxnSp>
        <p:nvCxnSpPr>
          <p:cNvPr id="46" name=""/>
          <p:cNvCxnSpPr>
            <a:stCxn xmlns:a="http://schemas.openxmlformats.org/drawingml/2006/main" id="11" idx="6"/>
            <a:endCxn xmlns:a="http://schemas.openxmlformats.org/drawingml/2006/main" id="16" idx="2"/>
          </p:cNvCxnSpPr>
          <p:nvPr/>
        </p:nvCxnSpPr>
        <p:spPr>
          <a:xfrm xmlns:a="http://schemas.openxmlformats.org/drawingml/2006/main">
            <a:off x="590550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64BB3-81F2-4D2F-A8A1-2FA28404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574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D7F2"/>
          </a:solidFill>
          <a:ln xmlns:a="http://schemas.openxmlformats.org/drawingml/2006/main" w="19050">
            <a:solidFill>
              <a:srgbClr val="63D7F2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7D8C79-2164-4AC6-822E-9E508CE4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162175"/>
            <a:ext cx="72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C9517E-58D4-4AB7-B32A-315EC6A9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24225"/>
            <a:ext cx="20478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A747C5-5B9F-46D0-A65C-3371A887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048125"/>
            <a:ext cx="210502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Check gaps and</a:t>
            </a:r>
          </a:p>
          <a:p xmlns:a="http://schemas.openxmlformats.org/drawingml/2006/main">
            <a:pPr>
              <a:def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adapt the output</a:t>
            </a:r>
          </a:p>
        </p:txBody>
      </p:sp>
      <p:cxnSp>
        <p:nvCxnSpPr>
          <p:cNvPr id="51" name=""/>
          <p:cNvCxnSpPr>
            <a:stCxn xmlns:a="http://schemas.openxmlformats.org/drawingml/2006/main" id="16" idx="6"/>
            <a:endCxn xmlns:a="http://schemas.openxmlformats.org/drawingml/2006/main" id="21" idx="2"/>
          </p:cNvCxnSpPr>
          <p:nvPr/>
        </p:nvCxnSpPr>
        <p:spPr>
          <a:xfrm xmlns:a="http://schemas.openxmlformats.org/drawingml/2006/main">
            <a:off x="8134350" y="24860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3D7F2"/>
            </a:solidFill>
            <a:tailEnd type="triangle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251A3-453C-4245-93F4-6718ECDF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43600"/>
            <a:ext cx="10801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Sources stay attached so the seller can review the reasoning.</a:t>
            </a:r>
          </a:p>
        </p:txBody>
      </p:sp>
    </p:spTree>
    <p:extLst>
      <p:ext uri="{BB962C8B-B14F-4D97-AF65-F5344CB8AC3E}">
        <p14:creationId xmlns:p14="http://schemas.microsoft.com/office/powerpoint/2010/main" val="2574141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DBCD9-9C5F-4874-B02F-E6C5508B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239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One workspace. A clear next step.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89e1d8c8f49f1"/>
          <a:stretch xmlns:a="http://schemas.openxmlformats.org/drawingml/2006/main"/>
        </p:blipFill>
        <p:spPr>
          <a:xfrm xmlns:a="http://schemas.openxmlformats.org/drawingml/2006/main">
            <a:off x="1019810" y="1190625"/>
            <a:ext cx="8952229" cy="50387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B43AAD-4166-475C-84E0-F6A1D3DB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2181225"/>
            <a:ext cx="1323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Research</a:t>
            </a:r>
          </a:p>
          <a:p xmlns:a="http://schemas.openxmlformats.org/drawingml/2006/main">
            <a:pPr>
              <a:def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progress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17C63-EA63-4AFA-B340-B3305D4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514725"/>
            <a:ext cx="13239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Saved</a:t>
            </a:r>
          </a:p>
          <a:p xmlns:a="http://schemas.openxmlformats.org/drawingml/2006/main">
            <a:pPr>
              <a:def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briefs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BC583-A62B-4B82-B36D-ECFEFA2E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848225"/>
            <a:ext cx="157162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Team</a:t>
            </a:r>
          </a:p>
          <a:p xmlns:a="http://schemas.openxmlformats.org/drawingml/2006/main">
            <a:pPr>
              <a:defRPr sz="16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workspace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8E354-6057-42DC-A7EB-7687C9B3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0080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Actual desktop demo</a:t>
            </a:r>
          </a:p>
        </p:txBody>
      </p:sp>
    </p:spTree>
    <p:extLst>
      <p:ext uri="{BB962C8B-B14F-4D97-AF65-F5344CB8AC3E}">
        <p14:creationId xmlns:p14="http://schemas.microsoft.com/office/powerpoint/2010/main" val="17644916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C1AAC-2FB0-4ACF-8A86-20CF9211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"/>
            <a:ext cx="11144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Conversation angles you can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47995-3839-4937-B6F5-0469D206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43000"/>
            <a:ext cx="109442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Actual local Vercel research. Hypotheses remain for the seller to validate.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6aa3eb7b7d4e33"/>
          <a:stretch xmlns:a="http://schemas.openxmlformats.org/drawingml/2006/main"/>
        </p:blipFill>
        <p:spPr>
          <a:xfrm xmlns:a="http://schemas.openxmlformats.org/drawingml/2006/main">
            <a:off x="948801" y="1724025"/>
            <a:ext cx="10294398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3404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03C7D-F8E5-46D9-989E-CFACB421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1114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The evidence stays within reach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897ab1ff641d2"/>
          <a:stretch xmlns:a="http://schemas.openxmlformats.org/drawingml/2006/main"/>
        </p:blipFill>
        <p:spPr>
          <a:xfrm xmlns:a="http://schemas.openxmlformats.org/drawingml/2006/main">
            <a:off x="504825" y="1658077"/>
            <a:ext cx="7591425" cy="419907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564D7-3522-49C0-BFEB-433A063B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04975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Trace each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F49C3-2F7B-4D9F-BC30-9FEBC4BE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315277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Key signals must match a stored claim and its source URL.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DABBF3-731B-4656-A903-02AA6553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100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Check the gaps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2EF0C-FA0E-4A86-8822-FFFA6320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14900"/>
            <a:ext cx="3143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Review freshness and contradictions before using the brief.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A57F6-2D5C-4CCB-8744-CD790AD9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38175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AI-generated demo research. Source links make claims traceable, not guaranteed.</a:t>
            </a:r>
          </a:p>
        </p:txBody>
      </p:sp>
    </p:spTree>
    <p:extLst>
      <p:ext uri="{BB962C8B-B14F-4D97-AF65-F5344CB8AC3E}">
        <p14:creationId xmlns:p14="http://schemas.microsoft.com/office/powerpoint/2010/main" val="966644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DF5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63F17-3B9C-43AB-ACBB-40E5B5ED0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10953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B1B3B-08DF-4600-8468-5EA20B3E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2477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 responsive app, with research running in the background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46CE80-BDCC-403C-8708-D91319F4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F1EA6-9E43-45B9-8EB9-129BA7FE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Web dashboard</a:t>
            </a:r>
          </a:p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Next.js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C8AB1-7E2F-41E7-B90E-D90EAC5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544E58-8ABF-4584-9B46-BE5A6335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API and accounts</a:t>
            </a:r>
          </a:p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NestJS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62DC3C-4BA0-48DD-AA47-F41CF0EC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3335">
            <a:solidFill>
              <a:srgbClr val="0B214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014DA-C930-43FF-A3F8-43C20CA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Data and job queue</a:t>
            </a:r>
          </a:p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PostgreSQL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E84E87-5C52-46EC-BDB2-79ECF189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669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14A"/>
          </a:solidFill>
          <a:ln xmlns:a="http://schemas.openxmlformats.org/drawingml/2006/main" w="13335">
            <a:solidFill>
              <a:srgbClr val="0B214A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4B6048-6A81-41AE-8362-E81840C7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Research worker</a:t>
            </a:r>
          </a:p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Python + LangGraph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415E9-340E-450A-8B2D-A3E6E5E6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6767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CEDE6-3259-4664-BBBA-F95798BC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8387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Public discovery</a:t>
            </a:r>
          </a:p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Tavily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C899CD-C0B3-4382-BD1A-796BC4C7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676775"/>
            <a:ext cx="22955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26FC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AC9F6-2ED4-4C2A-A8E7-36468F1A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838700"/>
            <a:ext cx="2143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AI inference</a:t>
            </a:r>
          </a:p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Qwen</a:t>
            </a:r>
          </a:p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DashScope</a:t>
            </a:r>
          </a:p>
        </p:txBody>
      </p: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867025" y="31718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6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734050" y="3171825"/>
            <a:ext cx="5619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7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591550" y="317182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8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586288" y="3876675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cxnSp>
        <p:nvCxnSpPr>
          <p:cNvPr id="39" name=""/>
          <p:cNvCxnSpPr>
            <a:stCxn xmlns:a="http://schemas.openxmlformats.org/drawingml/2006/main" id="9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10310813" y="3876675"/>
            <a:ext cx="0" cy="8001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26FCE"/>
            </a:solidFill>
            <a:headEnd type="triangle" w="med" len="med"/>
            <a:tailEnd type="triangle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7FDB8-C59E-45BD-B7D5-501D416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286500"/>
            <a:ext cx="10991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PostgreSQL stores workspace data and queues research jobs.</a:t>
            </a:r>
          </a:p>
        </p:txBody>
      </p:sp>
    </p:spTree>
    <p:extLst>
      <p:ext uri="{BB962C8B-B14F-4D97-AF65-F5344CB8AC3E}">
        <p14:creationId xmlns:p14="http://schemas.microsoft.com/office/powerpoint/2010/main" val="13042572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5B432-B185-4B5D-8646-97C676B8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095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An outreach draft for your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4585F3-6166-4582-AAF0-E9699F94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525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 source-based opener, a conditional fit, and a question that invites a reply.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13d97ab124de7"/>
          <a:stretch xmlns:a="http://schemas.openxmlformats.org/drawingml/2006/main"/>
        </p:blipFill>
        <p:spPr>
          <a:xfrm xmlns:a="http://schemas.openxmlformats.org/drawingml/2006/main">
            <a:off x="571500" y="2277096"/>
            <a:ext cx="11049000" cy="372303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CF01DB-2148-4526-84E3-299298AB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150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Personalize the message and verify its claims before sending.</a:t>
            </a:r>
          </a:p>
        </p:txBody>
      </p:sp>
    </p:spTree>
    <p:extLst>
      <p:ext uri="{BB962C8B-B14F-4D97-AF65-F5344CB8AC3E}">
        <p14:creationId xmlns:p14="http://schemas.microsoft.com/office/powerpoint/2010/main" val="9435447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21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EA0C0-B61B-464E-AFB4-1608E373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3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InsightIQ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DF673-1EF2-4668-964C-AC86B4A7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38325"/>
            <a:ext cx="6953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Turn research into</a:t>
            </a:r>
          </a:p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conversation</a:t>
            </a:r>
          </a:p>
          <a:p xmlns:a="http://schemas.openxmlformats.org/drawingml/2006/main">
            <a:pPr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worth having.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4662-FE17-4BBC-A126-36704D6B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52625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Built by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73AC8-010C-48FA-AD88-5A09053C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38425"/>
            <a:ext cx="3514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Afnan Ahmad Tariq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Danyal Rana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Hassan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F3C3E0-B185-4F9F-AA64-DC9739C4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67400"/>
            <a:ext cx="1078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rPr>
              <a:t>insightiq.zerotools.online</a:t>
            </a:r>
          </a:p>
        </p:txBody>
      </p:sp>
    </p:spTree>
    <p:extLst>
      <p:ext uri="{BB962C8B-B14F-4D97-AF65-F5344CB8AC3E}">
        <p14:creationId xmlns:p14="http://schemas.microsoft.com/office/powerpoint/2010/main" val="9098551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2026-09-07T20:09:49.6560000Z</dcterms:created>
  <dcterms:modified xsi:type="dcterms:W3CDTF">2026-09-07T20:09:49.6560000Z</dcterms:modified>
</coreProperties>
</file>